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7562850" cy="10688638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2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닥터-K 제품 사진 및 라벨(20260517_131025.jpg, 20260517_131029.jpg, 20260517_131034.jpg, 20260517_131038.jpg)</a:t>
            </a:r>
          </a:p>
          <a:p>
            <a:r>
              <a:t>- 사용자 제공 참고 파일(sample.pptx)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제품 사진: 20260517_131052.jpg, 20260517_131058.jpg, 20260517_131104.jpg</a:t>
            </a:r>
          </a:p>
          <a:p>
            <a:r>
              <a:t>- 사용자 제공 참고 프레젠테이션: 샘플.pptx</a:t>
            </a:r>
          </a:p>
          <a:p>
            <a:r>
              <a:t>- 제품 정보는 제품 라벨 문구를 요약함.</a:t>
            </a:r>
          </a:p>
          <a:p>
            <a:r>
              <a:t>- 500배 희석 환산: 물 20L당 제품 40ml.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9">
            <a:extLst>
              <a:ext uri="{FF2B5EF4-FFF2-40B4-BE49-F238E27FC236}">
                <a16:creationId xmlns:a16="http://schemas.microsoft.com/office/drawing/2014/main" id="{102CA37D-9CDA-1C63-F10A-0D684C70EEA5}"/>
              </a:ext>
            </a:extLst>
          </p:cNvPr>
          <p:cNvSpPr>
            <a:spLocks noGrp="1"/>
          </p:cNvSpPr>
          <p:nvPr/>
        </p:nvSpPr>
        <p:spPr>
          <a:xfrm>
            <a:off x="329184" y="7588668"/>
            <a:ext cx="6903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B3230AD-8B2D-4682-A043-CD0AFA980D5E}"/>
              </a:ext>
            </a:extLst>
          </p:cNvPr>
          <p:cNvSpPr>
            <a:spLocks noGrp="1"/>
          </p:cNvSpPr>
          <p:nvPr/>
        </p:nvSpPr>
        <p:spPr>
          <a:xfrm>
            <a:off x="81261" y="217801"/>
            <a:ext cx="7287768" cy="10728845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905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BE8E42-1C8E-4196-A47A-36AE8F71174C}"/>
              </a:ext>
            </a:extLst>
          </p:cNvPr>
          <p:cNvSpPr>
            <a:spLocks noGrp="1"/>
          </p:cNvSpPr>
          <p:nvPr/>
        </p:nvSpPr>
        <p:spPr>
          <a:xfrm>
            <a:off x="237744" y="246888"/>
            <a:ext cx="7086600" cy="1024128"/>
          </a:xfrm>
          <a:prstGeom prst="roundRect">
            <a:avLst>
              <a:gd name="adj" fmla="val 7143"/>
            </a:avLst>
          </a:prstGeom>
          <a:solidFill>
            <a:srgbClr val="FCE0DE"/>
          </a:solidFill>
          <a:ln w="7620">
            <a:solidFill>
              <a:srgbClr val="FCE0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B138A3-A849-4D5E-AADB-088C6436E625}"/>
              </a:ext>
            </a:extLst>
          </p:cNvPr>
          <p:cNvSpPr>
            <a:spLocks noGrp="1"/>
          </p:cNvSpPr>
          <p:nvPr/>
        </p:nvSpPr>
        <p:spPr>
          <a:xfrm>
            <a:off x="3831336" y="329184"/>
            <a:ext cx="2752344" cy="227902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414021-7FD9-4E36-A001-F6D41D7B9375}"/>
              </a:ext>
            </a:extLst>
          </p:cNvPr>
          <p:cNvSpPr>
            <a:spLocks noGrp="1"/>
          </p:cNvSpPr>
          <p:nvPr/>
        </p:nvSpPr>
        <p:spPr>
          <a:xfrm>
            <a:off x="603504" y="676656"/>
            <a:ext cx="2706624" cy="384048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55DC12-B178-47D7-BC68-E5BD2A7E061B}"/>
              </a:ext>
            </a:extLst>
          </p:cNvPr>
          <p:cNvSpPr>
            <a:spLocks noGrp="1"/>
          </p:cNvSpPr>
          <p:nvPr/>
        </p:nvSpPr>
        <p:spPr>
          <a:xfrm>
            <a:off x="4087368" y="694944"/>
            <a:ext cx="2331720" cy="384048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DEF0AA-A4FE-41F5-AEF6-1595599DDA89}"/>
              </a:ext>
            </a:extLst>
          </p:cNvPr>
          <p:cNvSpPr>
            <a:spLocks noGrp="1"/>
          </p:cNvSpPr>
          <p:nvPr/>
        </p:nvSpPr>
        <p:spPr>
          <a:xfrm>
            <a:off x="329184" y="1371600"/>
            <a:ext cx="6995160" cy="914400"/>
          </a:xfrm>
          <a:prstGeom prst="roundRect">
            <a:avLst>
              <a:gd name="adj" fmla="val 17021"/>
            </a:avLst>
          </a:prstGeom>
          <a:solidFill>
            <a:srgbClr val="FFF9D9"/>
          </a:solidFill>
          <a:ln w="1270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4E1B01-8C64-4A41-9550-8C4803AFF81C}"/>
              </a:ext>
            </a:extLst>
          </p:cNvPr>
          <p:cNvSpPr>
            <a:spLocks noGrp="1"/>
          </p:cNvSpPr>
          <p:nvPr/>
        </p:nvSpPr>
        <p:spPr>
          <a:xfrm>
            <a:off x="731520" y="1453896"/>
            <a:ext cx="6080760" cy="237744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lnSpcReduction="10000"/>
          </a:bodyPr>
          <a:lstStyle/>
          <a:p>
            <a:pPr marL="0" indent="0" algn="ctr">
              <a:buNone/>
            </a:pP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4FBE2F2-BBE4-45ED-B7BA-C9911C5B792A}"/>
              </a:ext>
            </a:extLst>
          </p:cNvPr>
          <p:cNvSpPr>
            <a:spLocks noGrp="1"/>
          </p:cNvSpPr>
          <p:nvPr/>
        </p:nvSpPr>
        <p:spPr>
          <a:xfrm>
            <a:off x="1353312" y="1947672"/>
            <a:ext cx="4864608" cy="201168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lnSpcReduction="10000"/>
          </a:bodyPr>
          <a:lstStyle/>
          <a:p>
            <a:pPr marL="0" indent="0" algn="ctr">
              <a:buNone/>
            </a:pPr>
            <a:endParaRPr sz="14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FDEA038-6E44-4516-8302-56E57359C9E9}"/>
              </a:ext>
            </a:extLst>
          </p:cNvPr>
          <p:cNvSpPr>
            <a:spLocks noGrp="1"/>
          </p:cNvSpPr>
          <p:nvPr/>
        </p:nvSpPr>
        <p:spPr>
          <a:xfrm>
            <a:off x="310896" y="2340864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EFFAF0"/>
          </a:solidFill>
          <a:ln w="12700">
            <a:solidFill>
              <a:srgbClr val="B9E1B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" y="2404871"/>
            <a:ext cx="2531359" cy="3651429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479779F9-426F-41B7-A283-43076F090527}"/>
              </a:ext>
            </a:extLst>
          </p:cNvPr>
          <p:cNvSpPr>
            <a:spLocks noGrp="1"/>
          </p:cNvSpPr>
          <p:nvPr/>
        </p:nvSpPr>
        <p:spPr>
          <a:xfrm>
            <a:off x="598855" y="6085332"/>
            <a:ext cx="2066544" cy="3474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endParaRPr sz="17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872A4DB-235C-4ED0-887A-58F840089EB7}"/>
              </a:ext>
            </a:extLst>
          </p:cNvPr>
          <p:cNvSpPr>
            <a:spLocks noGrp="1"/>
          </p:cNvSpPr>
          <p:nvPr/>
        </p:nvSpPr>
        <p:spPr>
          <a:xfrm>
            <a:off x="3063240" y="2340864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F02B0A0-F8A9-43B5-85C0-9E8EDC34A805}"/>
              </a:ext>
            </a:extLst>
          </p:cNvPr>
          <p:cNvSpPr>
            <a:spLocks noGrp="1"/>
          </p:cNvSpPr>
          <p:nvPr/>
        </p:nvSpPr>
        <p:spPr>
          <a:xfrm>
            <a:off x="3191256" y="2450592"/>
            <a:ext cx="3895344" cy="347472"/>
          </a:xfrm>
          <a:prstGeom prst="roundRect">
            <a:avLst>
              <a:gd name="adj" fmla="val 21053"/>
            </a:avLst>
          </a:prstGeom>
          <a:solidFill>
            <a:srgbClr val="EAF9EC"/>
          </a:solidFill>
          <a:ln w="1143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11D73C9-B442-4AEE-9C4B-484FCBFBD963}"/>
              </a:ext>
            </a:extLst>
          </p:cNvPr>
          <p:cNvSpPr>
            <a:spLocks noGrp="1"/>
          </p:cNvSpPr>
          <p:nvPr/>
        </p:nvSpPr>
        <p:spPr>
          <a:xfrm>
            <a:off x="4142405" y="2532831"/>
            <a:ext cx="3639312" cy="228600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l">
              <a:buNone/>
            </a:pPr>
            <a:endParaRPr sz="16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3118856-082C-4980-8D49-0172BD495FC9}"/>
              </a:ext>
            </a:extLst>
          </p:cNvPr>
          <p:cNvSpPr>
            <a:spLocks noGrp="1"/>
          </p:cNvSpPr>
          <p:nvPr/>
        </p:nvSpPr>
        <p:spPr>
          <a:xfrm>
            <a:off x="3218688" y="2889504"/>
            <a:ext cx="3785616" cy="960120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sz="16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74D0606-8FBD-4791-93AB-FFB6A71E0638}"/>
              </a:ext>
            </a:extLst>
          </p:cNvPr>
          <p:cNvSpPr>
            <a:spLocks noGrp="1"/>
          </p:cNvSpPr>
          <p:nvPr/>
        </p:nvSpPr>
        <p:spPr>
          <a:xfrm>
            <a:off x="3063240" y="4187952"/>
            <a:ext cx="4160520" cy="2197428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4F03F06-89E1-4DDB-9D12-CA176E828DE7}"/>
              </a:ext>
            </a:extLst>
          </p:cNvPr>
          <p:cNvSpPr>
            <a:spLocks noGrp="1"/>
          </p:cNvSpPr>
          <p:nvPr/>
        </p:nvSpPr>
        <p:spPr>
          <a:xfrm>
            <a:off x="3191256" y="4297680"/>
            <a:ext cx="3895344" cy="347472"/>
          </a:xfrm>
          <a:prstGeom prst="roundRect">
            <a:avLst>
              <a:gd name="adj" fmla="val 21053"/>
            </a:avLst>
          </a:prstGeom>
          <a:solidFill>
            <a:srgbClr val="EAF9EC"/>
          </a:solidFill>
          <a:ln w="1143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B409F82-2AE5-4E42-85E1-40692DD8F7D7}"/>
              </a:ext>
            </a:extLst>
          </p:cNvPr>
          <p:cNvSpPr>
            <a:spLocks noGrp="1"/>
          </p:cNvSpPr>
          <p:nvPr/>
        </p:nvSpPr>
        <p:spPr>
          <a:xfrm>
            <a:off x="4259033" y="4386408"/>
            <a:ext cx="3639312" cy="228600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l">
              <a:buNone/>
            </a:pPr>
            <a:endParaRPr sz="16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BB362FD-804A-42B3-8394-3887B0FECE96}"/>
              </a:ext>
            </a:extLst>
          </p:cNvPr>
          <p:cNvSpPr>
            <a:spLocks noGrp="1"/>
          </p:cNvSpPr>
          <p:nvPr/>
        </p:nvSpPr>
        <p:spPr>
          <a:xfrm>
            <a:off x="3218688" y="4709160"/>
            <a:ext cx="3803904" cy="1078992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endParaRPr sz="1400" b="1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3678BEE-A06D-4C64-9F39-F442B8A6479E}"/>
              </a:ext>
            </a:extLst>
          </p:cNvPr>
          <p:cNvSpPr>
            <a:spLocks noGrp="1"/>
          </p:cNvSpPr>
          <p:nvPr/>
        </p:nvSpPr>
        <p:spPr>
          <a:xfrm>
            <a:off x="329184" y="6565392"/>
            <a:ext cx="6903720" cy="676656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C7136CB-871B-4028-948C-C7E13FA7726F}"/>
              </a:ext>
            </a:extLst>
          </p:cNvPr>
          <p:cNvSpPr>
            <a:spLocks noGrp="1"/>
          </p:cNvSpPr>
          <p:nvPr/>
        </p:nvSpPr>
        <p:spPr>
          <a:xfrm>
            <a:off x="475488" y="6745716"/>
            <a:ext cx="1591056" cy="329184"/>
          </a:xfrm>
          <a:prstGeom prst="roundRect">
            <a:avLst>
              <a:gd name="adj" fmla="val 22222"/>
            </a:avLst>
          </a:prstGeom>
          <a:solidFill>
            <a:srgbClr val="EAF9EC"/>
          </a:solidFill>
          <a:ln w="1143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6E891CF-4836-42EF-AF66-F6E132AD0EA7}"/>
              </a:ext>
            </a:extLst>
          </p:cNvPr>
          <p:cNvSpPr>
            <a:spLocks noGrp="1"/>
          </p:cNvSpPr>
          <p:nvPr/>
        </p:nvSpPr>
        <p:spPr>
          <a:xfrm>
            <a:off x="557164" y="6768771"/>
            <a:ext cx="1499271" cy="293848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16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7DD3DB4-BE21-43F7-9231-28BFD0BCAC9D}"/>
              </a:ext>
            </a:extLst>
          </p:cNvPr>
          <p:cNvSpPr>
            <a:spLocks noGrp="1"/>
          </p:cNvSpPr>
          <p:nvPr/>
        </p:nvSpPr>
        <p:spPr>
          <a:xfrm>
            <a:off x="2331720" y="6702552"/>
            <a:ext cx="4590288" cy="493776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l">
              <a:buNone/>
            </a:pPr>
            <a:endParaRPr sz="160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BDB3267-1650-4C30-9F8C-7D743717A21B}"/>
              </a:ext>
            </a:extLst>
          </p:cNvPr>
          <p:cNvSpPr>
            <a:spLocks noGrp="1"/>
          </p:cNvSpPr>
          <p:nvPr/>
        </p:nvSpPr>
        <p:spPr>
          <a:xfrm>
            <a:off x="557164" y="7569140"/>
            <a:ext cx="6565392" cy="329184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endParaRPr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247295B-CA84-4B37-B258-93BD2C1B33F6}"/>
              </a:ext>
            </a:extLst>
          </p:cNvPr>
          <p:cNvSpPr>
            <a:spLocks noGrp="1"/>
          </p:cNvSpPr>
          <p:nvPr/>
        </p:nvSpPr>
        <p:spPr>
          <a:xfrm>
            <a:off x="2738628" y="8314609"/>
            <a:ext cx="2240280" cy="310896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l">
              <a:buNone/>
            </a:pPr>
            <a:endParaRPr sz="17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8935A81-41AF-4EF3-A59A-23DD56DE39C2}"/>
              </a:ext>
            </a:extLst>
          </p:cNvPr>
          <p:cNvSpPr>
            <a:spLocks noGrp="1"/>
          </p:cNvSpPr>
          <p:nvPr/>
        </p:nvSpPr>
        <p:spPr>
          <a:xfrm>
            <a:off x="329184" y="8723290"/>
            <a:ext cx="6903720" cy="1847088"/>
          </a:xfrm>
          <a:prstGeom prst="roundRect">
            <a:avLst>
              <a:gd name="adj" fmla="val 3960"/>
            </a:avLst>
          </a:prstGeom>
          <a:solidFill>
            <a:srgbClr val="F5FFF4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C4632ED-A9AD-4279-8D1C-877D11917BA1}"/>
              </a:ext>
            </a:extLst>
          </p:cNvPr>
          <p:cNvSpPr>
            <a:spLocks noGrp="1"/>
          </p:cNvSpPr>
          <p:nvPr/>
        </p:nvSpPr>
        <p:spPr>
          <a:xfrm>
            <a:off x="484632" y="8869680"/>
            <a:ext cx="3383280" cy="329184"/>
          </a:xfrm>
          <a:prstGeom prst="rect">
            <a:avLst/>
          </a:prstGeom>
          <a:solidFill>
            <a:srgbClr val="2F7D2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D5F8B5B-0E02-4628-9E67-4FD35ECF3F8A}"/>
              </a:ext>
            </a:extLst>
          </p:cNvPr>
          <p:cNvSpPr>
            <a:spLocks noGrp="1"/>
          </p:cNvSpPr>
          <p:nvPr/>
        </p:nvSpPr>
        <p:spPr>
          <a:xfrm>
            <a:off x="521208" y="8901684"/>
            <a:ext cx="3310128" cy="26517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96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F376B805-96A9-4307-A8B7-B31A0ED626D0}"/>
              </a:ext>
            </a:extLst>
          </p:cNvPr>
          <p:cNvSpPr>
            <a:spLocks noGrp="1"/>
          </p:cNvSpPr>
          <p:nvPr/>
        </p:nvSpPr>
        <p:spPr>
          <a:xfrm>
            <a:off x="3867912" y="8869680"/>
            <a:ext cx="1828800" cy="329184"/>
          </a:xfrm>
          <a:prstGeom prst="rect">
            <a:avLst/>
          </a:prstGeom>
          <a:solidFill>
            <a:srgbClr val="2F7D2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5B4C3D2-9BED-4A46-8DF9-3F43A1D03D7C}"/>
              </a:ext>
            </a:extLst>
          </p:cNvPr>
          <p:cNvSpPr>
            <a:spLocks noGrp="1"/>
          </p:cNvSpPr>
          <p:nvPr/>
        </p:nvSpPr>
        <p:spPr>
          <a:xfrm>
            <a:off x="3904488" y="8901684"/>
            <a:ext cx="1755648" cy="26517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96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95F6FABE-A859-4D7F-89B4-507E8CC05849}"/>
              </a:ext>
            </a:extLst>
          </p:cNvPr>
          <p:cNvSpPr>
            <a:spLocks noGrp="1"/>
          </p:cNvSpPr>
          <p:nvPr/>
        </p:nvSpPr>
        <p:spPr>
          <a:xfrm>
            <a:off x="5696712" y="8869680"/>
            <a:ext cx="1371600" cy="329184"/>
          </a:xfrm>
          <a:prstGeom prst="rect">
            <a:avLst/>
          </a:prstGeom>
          <a:solidFill>
            <a:srgbClr val="2F7D2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10D4DB7-782E-44E8-A288-FA4DB0AEB035}"/>
              </a:ext>
            </a:extLst>
          </p:cNvPr>
          <p:cNvSpPr>
            <a:spLocks noGrp="1"/>
          </p:cNvSpPr>
          <p:nvPr/>
        </p:nvSpPr>
        <p:spPr>
          <a:xfrm>
            <a:off x="5733288" y="8901684"/>
            <a:ext cx="1298448" cy="26517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96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0020F07-A012-4A08-9F0E-188A548727C4}"/>
              </a:ext>
            </a:extLst>
          </p:cNvPr>
          <p:cNvSpPr>
            <a:spLocks noGrp="1"/>
          </p:cNvSpPr>
          <p:nvPr/>
        </p:nvSpPr>
        <p:spPr>
          <a:xfrm>
            <a:off x="475488" y="9186390"/>
            <a:ext cx="3383280" cy="602262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4A75D46-6463-44D9-B174-54CCB81E73F1}"/>
              </a:ext>
            </a:extLst>
          </p:cNvPr>
          <p:cNvSpPr>
            <a:spLocks noGrp="1"/>
          </p:cNvSpPr>
          <p:nvPr/>
        </p:nvSpPr>
        <p:spPr>
          <a:xfrm>
            <a:off x="521208" y="9230868"/>
            <a:ext cx="3310128" cy="621792"/>
          </a:xfrm>
          <a:prstGeom prst="rect">
            <a:avLst/>
          </a:prstGeom>
          <a:noFill/>
        </p:spPr>
        <p:txBody>
          <a:bodyPr wrap="square" lIns="127" tIns="127" rIns="127" bIns="127" anchor="ctr">
            <a:no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62212C7-AA5B-4836-B605-7EBF42F38B96}"/>
              </a:ext>
            </a:extLst>
          </p:cNvPr>
          <p:cNvSpPr>
            <a:spLocks noGrp="1"/>
          </p:cNvSpPr>
          <p:nvPr/>
        </p:nvSpPr>
        <p:spPr>
          <a:xfrm>
            <a:off x="3867912" y="9198864"/>
            <a:ext cx="1828800" cy="580644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727100D-103C-48F8-BC20-5F7290BD75C0}"/>
              </a:ext>
            </a:extLst>
          </p:cNvPr>
          <p:cNvSpPr>
            <a:spLocks noGrp="1"/>
          </p:cNvSpPr>
          <p:nvPr/>
        </p:nvSpPr>
        <p:spPr>
          <a:xfrm>
            <a:off x="3904488" y="9230868"/>
            <a:ext cx="1755648" cy="5486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4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115FDD03-650C-4B03-A1BE-D15B9EC466B3}"/>
              </a:ext>
            </a:extLst>
          </p:cNvPr>
          <p:cNvSpPr>
            <a:spLocks noGrp="1"/>
          </p:cNvSpPr>
          <p:nvPr/>
        </p:nvSpPr>
        <p:spPr>
          <a:xfrm>
            <a:off x="5696712" y="9198864"/>
            <a:ext cx="1371600" cy="580644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34175B90-5029-4D57-A440-5C2003438BE9}"/>
              </a:ext>
            </a:extLst>
          </p:cNvPr>
          <p:cNvSpPr>
            <a:spLocks noGrp="1"/>
          </p:cNvSpPr>
          <p:nvPr/>
        </p:nvSpPr>
        <p:spPr>
          <a:xfrm>
            <a:off x="5733288" y="9230868"/>
            <a:ext cx="1298448" cy="5486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40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4F36836-883E-4DB5-85E7-8DF5BEE9EFEC}"/>
              </a:ext>
            </a:extLst>
          </p:cNvPr>
          <p:cNvSpPr>
            <a:spLocks noGrp="1"/>
          </p:cNvSpPr>
          <p:nvPr/>
        </p:nvSpPr>
        <p:spPr>
          <a:xfrm>
            <a:off x="484632" y="9820656"/>
            <a:ext cx="33832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D9848983-CCFB-47EF-A841-226EE8DD686E}"/>
              </a:ext>
            </a:extLst>
          </p:cNvPr>
          <p:cNvSpPr>
            <a:spLocks noGrp="1"/>
          </p:cNvSpPr>
          <p:nvPr/>
        </p:nvSpPr>
        <p:spPr>
          <a:xfrm>
            <a:off x="521208" y="9852660"/>
            <a:ext cx="331012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30968569-886A-49D4-BA24-FAF63EA1B71F}"/>
              </a:ext>
            </a:extLst>
          </p:cNvPr>
          <p:cNvSpPr>
            <a:spLocks noGrp="1"/>
          </p:cNvSpPr>
          <p:nvPr/>
        </p:nvSpPr>
        <p:spPr>
          <a:xfrm>
            <a:off x="3867912" y="9820656"/>
            <a:ext cx="18288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9C68CAE6-9471-469E-B534-647D4CF937D4}"/>
              </a:ext>
            </a:extLst>
          </p:cNvPr>
          <p:cNvSpPr>
            <a:spLocks noGrp="1"/>
          </p:cNvSpPr>
          <p:nvPr/>
        </p:nvSpPr>
        <p:spPr>
          <a:xfrm>
            <a:off x="3904488" y="9852660"/>
            <a:ext cx="17556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538C5698-E3D9-48B5-BF7D-56D7AD67EF6F}"/>
              </a:ext>
            </a:extLst>
          </p:cNvPr>
          <p:cNvSpPr>
            <a:spLocks noGrp="1"/>
          </p:cNvSpPr>
          <p:nvPr/>
        </p:nvSpPr>
        <p:spPr>
          <a:xfrm>
            <a:off x="5696712" y="9820656"/>
            <a:ext cx="13716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316E849F-9C08-4629-9B79-9F46B8DB994A}"/>
              </a:ext>
            </a:extLst>
          </p:cNvPr>
          <p:cNvSpPr>
            <a:spLocks noGrp="1"/>
          </p:cNvSpPr>
          <p:nvPr/>
        </p:nvSpPr>
        <p:spPr>
          <a:xfrm>
            <a:off x="5733288" y="9852660"/>
            <a:ext cx="12984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120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4313A244-367B-473B-A7C2-893A8ADD6228}"/>
              </a:ext>
            </a:extLst>
          </p:cNvPr>
          <p:cNvSpPr>
            <a:spLocks noGrp="1"/>
          </p:cNvSpPr>
          <p:nvPr/>
        </p:nvSpPr>
        <p:spPr>
          <a:xfrm>
            <a:off x="484632" y="10131552"/>
            <a:ext cx="3383280" cy="310896"/>
          </a:xfrm>
          <a:prstGeom prst="rect">
            <a:avLst/>
          </a:prstGeom>
          <a:solidFill>
            <a:srgbClr val="F8F2D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DFF82551-0FB8-48AC-8E35-3ECF85196B40}"/>
              </a:ext>
            </a:extLst>
          </p:cNvPr>
          <p:cNvSpPr>
            <a:spLocks noGrp="1"/>
          </p:cNvSpPr>
          <p:nvPr/>
        </p:nvSpPr>
        <p:spPr>
          <a:xfrm>
            <a:off x="521208" y="10163556"/>
            <a:ext cx="331012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B4AF7F26-3CBE-426E-9380-071FB0290631}"/>
              </a:ext>
            </a:extLst>
          </p:cNvPr>
          <p:cNvSpPr>
            <a:spLocks noGrp="1"/>
          </p:cNvSpPr>
          <p:nvPr/>
        </p:nvSpPr>
        <p:spPr>
          <a:xfrm>
            <a:off x="3867912" y="10131552"/>
            <a:ext cx="1828800" cy="310896"/>
          </a:xfrm>
          <a:prstGeom prst="rect">
            <a:avLst/>
          </a:prstGeom>
          <a:solidFill>
            <a:srgbClr val="F8F2D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334DF385-64CD-41CD-AD2E-52745D65E6AF}"/>
              </a:ext>
            </a:extLst>
          </p:cNvPr>
          <p:cNvSpPr>
            <a:spLocks noGrp="1"/>
          </p:cNvSpPr>
          <p:nvPr/>
        </p:nvSpPr>
        <p:spPr>
          <a:xfrm>
            <a:off x="3904488" y="10163556"/>
            <a:ext cx="17556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2F54D7D1-5DE2-497D-9E0D-6B7153247D90}"/>
              </a:ext>
            </a:extLst>
          </p:cNvPr>
          <p:cNvSpPr>
            <a:spLocks noGrp="1"/>
          </p:cNvSpPr>
          <p:nvPr/>
        </p:nvSpPr>
        <p:spPr>
          <a:xfrm>
            <a:off x="5696712" y="10131552"/>
            <a:ext cx="1371600" cy="310896"/>
          </a:xfrm>
          <a:prstGeom prst="rect">
            <a:avLst/>
          </a:prstGeom>
          <a:solidFill>
            <a:srgbClr val="F8F2D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97BD540F-C5F1-4AEE-BF6C-AA8B38E51FF0}"/>
              </a:ext>
            </a:extLst>
          </p:cNvPr>
          <p:cNvSpPr>
            <a:spLocks noGrp="1"/>
          </p:cNvSpPr>
          <p:nvPr/>
        </p:nvSpPr>
        <p:spPr>
          <a:xfrm>
            <a:off x="5733288" y="10163556"/>
            <a:ext cx="12984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F9E48029-4D6D-C2CA-76C9-A97044A03074}"/>
              </a:ext>
            </a:extLst>
          </p:cNvPr>
          <p:cNvSpPr>
            <a:spLocks noGrp="1"/>
          </p:cNvSpPr>
          <p:nvPr/>
        </p:nvSpPr>
        <p:spPr>
          <a:xfrm>
            <a:off x="374904" y="7400364"/>
            <a:ext cx="6903720" cy="630936"/>
          </a:xfrm>
          <a:prstGeom prst="roundRect">
            <a:avLst>
              <a:gd name="adj" fmla="val 7843"/>
            </a:avLst>
          </a:prstGeom>
          <a:noFill/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EC0CF39-30E5-4AAD-B5A3-9E5A2D7C2302}"/>
              </a:ext>
            </a:extLst>
          </p:cNvPr>
          <p:cNvSpPr>
            <a:spLocks noGrp="1"/>
          </p:cNvSpPr>
          <p:nvPr/>
        </p:nvSpPr>
        <p:spPr>
          <a:xfrm>
            <a:off x="3831336" y="329184"/>
            <a:ext cx="2752344" cy="227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DOCTOR-K · 1,000cc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290E109-61E6-456B-98A9-09F75DE4B7BF}"/>
              </a:ext>
            </a:extLst>
          </p:cNvPr>
          <p:cNvSpPr>
            <a:spLocks noGrp="1"/>
          </p:cNvSpPr>
          <p:nvPr/>
        </p:nvSpPr>
        <p:spPr>
          <a:xfrm>
            <a:off x="603504" y="676656"/>
            <a:ext cx="2706624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아미노산 첨가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85650A6-F484-4AC6-809F-6243763336A5}"/>
              </a:ext>
            </a:extLst>
          </p:cNvPr>
          <p:cNvSpPr>
            <a:spLocks noGrp="1"/>
          </p:cNvSpPr>
          <p:nvPr/>
        </p:nvSpPr>
        <p:spPr>
          <a:xfrm>
            <a:off x="4087368" y="694944"/>
            <a:ext cx="233172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닥터-K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AAF542-163D-4C96-9098-30D8D2883B57}"/>
              </a:ext>
            </a:extLst>
          </p:cNvPr>
          <p:cNvSpPr>
            <a:spLocks noGrp="1"/>
          </p:cNvSpPr>
          <p:nvPr/>
        </p:nvSpPr>
        <p:spPr>
          <a:xfrm>
            <a:off x="731520" y="1453896"/>
            <a:ext cx="608076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아미노산 · 수용성 붕소 · 수용성 몰리브덴</a:t>
            </a:r>
            <a:endParaRPr sz="2000" b="1">
              <a:solidFill>
                <a:srgbClr val="00843D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02EF8FA-AF1A-4F54-8F29-3AD492DCA477}"/>
              </a:ext>
            </a:extLst>
          </p:cNvPr>
          <p:cNvSpPr>
            <a:spLocks noGrp="1"/>
          </p:cNvSpPr>
          <p:nvPr/>
        </p:nvSpPr>
        <p:spPr>
          <a:xfrm>
            <a:off x="1353312" y="1947672"/>
            <a:ext cx="4864608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전 생육기 생육 안정과 품질 관리</a:t>
            </a:r>
            <a:endParaRPr sz="1050" b="1">
              <a:solidFill>
                <a:srgbClr val="00843D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697BDA7-4142-45B0-9B5F-09343D289E79}"/>
              </a:ext>
            </a:extLst>
          </p:cNvPr>
          <p:cNvSpPr>
            <a:spLocks noGrp="1"/>
          </p:cNvSpPr>
          <p:nvPr/>
        </p:nvSpPr>
        <p:spPr>
          <a:xfrm>
            <a:off x="598837" y="6085332"/>
            <a:ext cx="206654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닥터-K · 1,000cc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CB5A7BE-F2E2-4389-929C-CD737AF05590}"/>
              </a:ext>
            </a:extLst>
          </p:cNvPr>
          <p:cNvSpPr>
            <a:spLocks noGrp="1"/>
          </p:cNvSpPr>
          <p:nvPr/>
        </p:nvSpPr>
        <p:spPr>
          <a:xfrm>
            <a:off x="4142423" y="2532793"/>
            <a:ext cx="363931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1. 생육 안정과 회복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7B057A6-1243-4656-BD4C-99FB029E08C4}"/>
              </a:ext>
            </a:extLst>
          </p:cNvPr>
          <p:cNvSpPr>
            <a:spLocks noGrp="1"/>
          </p:cNvSpPr>
          <p:nvPr/>
        </p:nvSpPr>
        <p:spPr>
          <a:xfrm>
            <a:off x="3218688" y="2889504"/>
            <a:ext cx="3785616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노화 방지와 수세 회복에 도움</a:t>
            </a:r>
            <a:endParaRPr sz="20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각종 생육장해 회복 관리</a:t>
            </a:r>
            <a:endParaRPr sz="20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냉해 예방과 화방 관리에 활용</a:t>
            </a:r>
            <a:endParaRPr sz="20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0C7F88F-F8D2-4183-AA99-63BBDA27B2EB}"/>
              </a:ext>
            </a:extLst>
          </p:cNvPr>
          <p:cNvSpPr>
            <a:spLocks noGrp="1"/>
          </p:cNvSpPr>
          <p:nvPr/>
        </p:nvSpPr>
        <p:spPr>
          <a:xfrm>
            <a:off x="4259009" y="4386453"/>
            <a:ext cx="363931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2. 개화·결실·품질 관리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9B0F1B1-D92F-4E12-89C0-E6DBCC36FBBD}"/>
              </a:ext>
            </a:extLst>
          </p:cNvPr>
          <p:cNvSpPr>
            <a:spLocks noGrp="1"/>
          </p:cNvSpPr>
          <p:nvPr/>
        </p:nvSpPr>
        <p:spPr>
          <a:xfrm>
            <a:off x="3218688" y="4709160"/>
            <a:ext cx="3803904" cy="1078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비대·개화·결실 촉진에 도움</a:t>
            </a:r>
            <a:endParaRPr sz="16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발근 활력과 건전한 수형 관리</a:t>
            </a:r>
            <a:endParaRPr sz="16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당도·빛깔·향·선택 및 품질 향상</a:t>
            </a:r>
            <a:endParaRPr sz="16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AC4325D-6B36-47E6-98BF-B08167F25C78}"/>
              </a:ext>
            </a:extLst>
          </p:cNvPr>
          <p:cNvSpPr>
            <a:spLocks noGrp="1"/>
          </p:cNvSpPr>
          <p:nvPr/>
        </p:nvSpPr>
        <p:spPr>
          <a:xfrm>
            <a:off x="557117" y="6768751"/>
            <a:ext cx="1499235" cy="2938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3. 제품 특성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930296A-C17F-4ABC-815A-06D9375AAF02}"/>
              </a:ext>
            </a:extLst>
          </p:cNvPr>
          <p:cNvSpPr>
            <a:spLocks noGrp="1"/>
          </p:cNvSpPr>
          <p:nvPr/>
        </p:nvSpPr>
        <p:spPr>
          <a:xfrm>
            <a:off x="2331720" y="6702552"/>
            <a:ext cx="4590288" cy="493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식물 필수 미량요소 + 아미노산 첨가</a:t>
            </a:r>
          </a:p>
          <a:p>
            <a:pPr algn="ctr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전 생육기에 사용하는 액상 비료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E8EA153-12B8-484A-A6E5-2F38CEAB95BC}"/>
              </a:ext>
            </a:extLst>
          </p:cNvPr>
          <p:cNvSpPr>
            <a:spLocks noGrp="1"/>
          </p:cNvSpPr>
          <p:nvPr/>
        </p:nvSpPr>
        <p:spPr>
          <a:xfrm>
            <a:off x="557117" y="7569137"/>
            <a:ext cx="6565392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보증성분: 수용성붕소 0.05% · 수용성몰리브덴 0.0005%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72CC63C-4F26-48B5-838C-BC6F2595FF9A}"/>
              </a:ext>
            </a:extLst>
          </p:cNvPr>
          <p:cNvSpPr>
            <a:spLocks noGrp="1"/>
          </p:cNvSpPr>
          <p:nvPr/>
        </p:nvSpPr>
        <p:spPr>
          <a:xfrm>
            <a:off x="2738628" y="8314563"/>
            <a:ext cx="2240280" cy="310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사용 방법 (500배 희석)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657D568-9DB4-4AD5-80EB-D6F62EAE1C63}"/>
              </a:ext>
            </a:extLst>
          </p:cNvPr>
          <p:cNvSpPr>
            <a:spLocks noGrp="1"/>
          </p:cNvSpPr>
          <p:nvPr/>
        </p:nvSpPr>
        <p:spPr>
          <a:xfrm>
            <a:off x="521208" y="8901684"/>
            <a:ext cx="331012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적용 작물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055D6B6-5956-413F-B45E-51F115818A55}"/>
              </a:ext>
            </a:extLst>
          </p:cNvPr>
          <p:cNvSpPr>
            <a:spLocks noGrp="1"/>
          </p:cNvSpPr>
          <p:nvPr/>
        </p:nvSpPr>
        <p:spPr>
          <a:xfrm>
            <a:off x="3904488" y="8901684"/>
            <a:ext cx="1755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살포 시기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8D810BF-3066-429E-B9D8-528F57D06F1C}"/>
              </a:ext>
            </a:extLst>
          </p:cNvPr>
          <p:cNvSpPr>
            <a:spLocks noGrp="1"/>
          </p:cNvSpPr>
          <p:nvPr/>
        </p:nvSpPr>
        <p:spPr>
          <a:xfrm>
            <a:off x="5733288" y="8901684"/>
            <a:ext cx="12984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희석 기준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B997F5C-4005-436F-9EF4-3DD4F2C3DDB9}"/>
              </a:ext>
            </a:extLst>
          </p:cNvPr>
          <p:cNvSpPr>
            <a:spLocks noGrp="1"/>
          </p:cNvSpPr>
          <p:nvPr/>
        </p:nvSpPr>
        <p:spPr>
          <a:xfrm>
            <a:off x="521208" y="9230868"/>
            <a:ext cx="3310128" cy="621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과수류 · 채소류 · 화훼류 · 기타작물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BADECDA-B4FE-4D4E-B108-03D2B42D5A4F}"/>
              </a:ext>
            </a:extLst>
          </p:cNvPr>
          <p:cNvSpPr>
            <a:spLocks noGrp="1"/>
          </p:cNvSpPr>
          <p:nvPr/>
        </p:nvSpPr>
        <p:spPr>
          <a:xfrm>
            <a:off x="3904488" y="9230868"/>
            <a:ext cx="1755648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전 생육기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2090916-4D84-47FD-A1C1-B1D1BEB2AF97}"/>
              </a:ext>
            </a:extLst>
          </p:cNvPr>
          <p:cNvSpPr>
            <a:spLocks noGrp="1"/>
          </p:cNvSpPr>
          <p:nvPr/>
        </p:nvSpPr>
        <p:spPr>
          <a:xfrm>
            <a:off x="5733288" y="9230868"/>
            <a:ext cx="1298448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물 20L당 40ml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666BD73-9B4D-4497-A7A7-9805D2CF0D49}"/>
              </a:ext>
            </a:extLst>
          </p:cNvPr>
          <p:cNvSpPr>
            <a:spLocks noGrp="1"/>
          </p:cNvSpPr>
          <p:nvPr/>
        </p:nvSpPr>
        <p:spPr>
          <a:xfrm>
            <a:off x="521208" y="9852660"/>
            <a:ext cx="331012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사용 전 충분히 흔들어 희석</a:t>
            </a:r>
            <a:endParaRPr sz="75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41A2251-0793-43D0-99AD-AF2D1C6D472A}"/>
              </a:ext>
            </a:extLst>
          </p:cNvPr>
          <p:cNvSpPr>
            <a:spLocks noGrp="1"/>
          </p:cNvSpPr>
          <p:nvPr/>
        </p:nvSpPr>
        <p:spPr>
          <a:xfrm>
            <a:off x="3904488" y="9852660"/>
            <a:ext cx="17556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엽면살포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9CB3FB0-E14E-468F-A34B-090FBD4E315F}"/>
              </a:ext>
            </a:extLst>
          </p:cNvPr>
          <p:cNvSpPr>
            <a:spLocks noGrp="1"/>
          </p:cNvSpPr>
          <p:nvPr/>
        </p:nvSpPr>
        <p:spPr>
          <a:xfrm>
            <a:off x="5733288" y="9852660"/>
            <a:ext cx="12984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500배 기준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CDED41F-80A3-4EC6-A05D-2B2DBCBCD11B}"/>
              </a:ext>
            </a:extLst>
          </p:cNvPr>
          <p:cNvSpPr>
            <a:spLocks noGrp="1"/>
          </p:cNvSpPr>
          <p:nvPr/>
        </p:nvSpPr>
        <p:spPr>
          <a:xfrm>
            <a:off x="521208" y="10163556"/>
            <a:ext cx="331012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농약 혼용 시 소량 시험 후 사용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F8C84F2-3FE5-4DA0-BA4C-F5219BD2682D}"/>
              </a:ext>
            </a:extLst>
          </p:cNvPr>
          <p:cNvSpPr>
            <a:spLocks noGrp="1"/>
          </p:cNvSpPr>
          <p:nvPr/>
        </p:nvSpPr>
        <p:spPr>
          <a:xfrm>
            <a:off x="3904488" y="10163556"/>
            <a:ext cx="17556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고온기 주의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2AE9609-9CD7-4AE4-A587-58D90CC7394C}"/>
              </a:ext>
            </a:extLst>
          </p:cNvPr>
          <p:cNvSpPr>
            <a:spLocks noGrp="1"/>
          </p:cNvSpPr>
          <p:nvPr/>
        </p:nvSpPr>
        <p:spPr>
          <a:xfrm>
            <a:off x="5733288" y="10163556"/>
            <a:ext cx="12984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서늘한 곳 보관</a:t>
            </a:r>
          </a:p>
        </p:txBody>
      </p:sp>
    </p:spTree>
    <p:extLst>
      <p:ext uri="{BB962C8B-B14F-4D97-AF65-F5344CB8AC3E}">
        <p14:creationId xmlns:p14="http://schemas.microsoft.com/office/powerpoint/2010/main" val="403311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73D706-1B7C-8EA2-5024-E7D3DA3CA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47" y="711200"/>
            <a:ext cx="6951236" cy="982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3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5BA60F-72DA-CBA1-26E6-C8CF5AB2A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0"/>
            <a:ext cx="6470649" cy="1068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4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/>
          <p:cNvPicPr>
            <a:picLocks noChangeAspect="1"/>
          </p:cNvPicPr>
          <p:nvPr/>
        </p:nvPicPr>
        <p:blipFill>
          <a:blip r:embed="rId3"/>
          <a:srcRect l="4585" r="4585"/>
          <a:stretch>
            <a:fillRect/>
          </a:stretch>
        </p:blipFill>
        <p:spPr>
          <a:xfrm>
            <a:off x="203200" y="-119166"/>
            <a:ext cx="6544441" cy="1080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058634-2D9C-B4B3-B403-05E569CCC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360413"/>
            <a:ext cx="6292850" cy="40422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B24315F-4A37-3256-BDB1-A9585704B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67" y="4907446"/>
            <a:ext cx="6699250" cy="19361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B2911E-3FE6-7D1D-E56F-E763393FF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25120"/>
            <a:ext cx="7562850" cy="184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1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973E0C-7C41-E5FC-FF67-882A771D2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77" y="616652"/>
            <a:ext cx="6407295" cy="40432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F9501D-3910-87D4-C6F5-6E50ABC89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77" y="5500873"/>
            <a:ext cx="6610690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2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241</Words>
  <Application>Microsoft Office PowerPoint</Application>
  <DocSecurity>0</DocSecurity>
  <PresentationFormat>사용자 지정</PresentationFormat>
  <Paragraphs>39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현민 지</cp:lastModifiedBy>
  <cp:revision>2</cp:revision>
  <dcterms:created xsi:type="dcterms:W3CDTF">2026-08-07T06:01:20Z</dcterms:created>
  <dcterms:modified xsi:type="dcterms:W3CDTF">2026-08-07T07:54:43Z</dcterms:modified>
</cp:coreProperties>
</file>