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32af503e0e44e3" /><Relationship Type="http://schemas.openxmlformats.org/officeDocument/2006/relationships/extended-properties" Target="/docProps/app.xml" Id="Red188109628044b1" /><Relationship Type="http://schemas.openxmlformats.org/officeDocument/2006/relationships/officeDocument" Target="/ppt/presentation.xml" Id="R0a0d9e9b653a4a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fb654eb2f745d8"/>
  </p:sldMasterIdLst>
  <p:notesMasterIdLst>
    <p:notesMasterId xmlns:r="http://schemas.openxmlformats.org/officeDocument/2006/relationships" r:id="R2901acb8868e4afa"/>
  </p:notesMasterIdLst>
  <p:sldIdLst>
    <p:sldId xmlns:r="http://schemas.openxmlformats.org/officeDocument/2006/relationships" id="256" r:id="R4fbfed75a6be43d9"/>
    <p:sldId xmlns:r="http://schemas.openxmlformats.org/officeDocument/2006/relationships" id="257" r:id="R4ad8e17889f04922"/>
    <p:sldId xmlns:r="http://schemas.openxmlformats.org/officeDocument/2006/relationships" id="258" r:id="Rfe1db4fe4f8b4a21"/>
    <p:sldId xmlns:r="http://schemas.openxmlformats.org/officeDocument/2006/relationships" id="259" r:id="R72bda65aa89941c1"/>
    <p:sldId xmlns:r="http://schemas.openxmlformats.org/officeDocument/2006/relationships" id="260" r:id="Rad29b6e0060b4d49"/>
    <p:sldId xmlns:r="http://schemas.openxmlformats.org/officeDocument/2006/relationships" id="261" r:id="R874f7babe0be42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4a66e7b4ba436a" /><Relationship Type="http://schemas.openxmlformats.org/officeDocument/2006/relationships/slideMaster" Target="/ppt/slideMasters/slideMaster1.xml" Id="Ra2fb654eb2f745d8" /><Relationship Type="http://schemas.openxmlformats.org/officeDocument/2006/relationships/notesMaster" Target="/ppt/notesMasters/notesMaster1.xml" Id="R2901acb8868e4afa" /><Relationship Type="http://schemas.openxmlformats.org/officeDocument/2006/relationships/presProps" Target="/ppt/presProps.xml" Id="R6b8b5a6e8bd242aa" /><Relationship Type="http://schemas.openxmlformats.org/officeDocument/2006/relationships/tableStyles" Target="/ppt/tableStyles.xml" Id="Re00d06b3bff84f00" /><Relationship Type="http://schemas.openxmlformats.org/officeDocument/2006/relationships/slide" Target="/ppt/slides/slide1.xml" Id="R4fbfed75a6be43d9" /><Relationship Type="http://schemas.openxmlformats.org/officeDocument/2006/relationships/slide" Target="/ppt/slides/slide2.xml" Id="R4ad8e17889f04922" /><Relationship Type="http://schemas.openxmlformats.org/officeDocument/2006/relationships/slide" Target="/ppt/slides/slide3.xml" Id="Rfe1db4fe4f8b4a21" /><Relationship Type="http://schemas.openxmlformats.org/officeDocument/2006/relationships/slide" Target="/ppt/slides/slide4.xml" Id="R72bda65aa89941c1" /><Relationship Type="http://schemas.openxmlformats.org/officeDocument/2006/relationships/slide" Target="/ppt/slides/slide5.xml" Id="Rad29b6e0060b4d49" /><Relationship Type="http://schemas.openxmlformats.org/officeDocument/2006/relationships/slide" Target="/ppt/slides/slide6.xml" Id="R874f7babe0be42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28a76870fe46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1e3dd14e5749b2" /><Relationship Type="http://schemas.openxmlformats.org/officeDocument/2006/relationships/notesMaster" Target="/ppt/notesMasters/notesMaster1.xml" Id="Ree7c9f57504b47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efc05e894e4a61" /><Relationship Type="http://schemas.openxmlformats.org/officeDocument/2006/relationships/notesMaster" Target="/ppt/notesMasters/notesMaster1.xml" Id="R2cdbd28c3d1e42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4be688285c4f4e" /><Relationship Type="http://schemas.openxmlformats.org/officeDocument/2006/relationships/notesMaster" Target="/ppt/notesMasters/notesMaster1.xml" Id="Rc77e6783730e40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f1de199fd7428a" /><Relationship Type="http://schemas.openxmlformats.org/officeDocument/2006/relationships/notesMaster" Target="/ppt/notesMasters/notesMaster1.xml" Id="Ra300937eb40244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a6d514f9934dc4" /><Relationship Type="http://schemas.openxmlformats.org/officeDocument/2006/relationships/notesMaster" Target="/ppt/notesMasters/notesMaster1.xml" Id="Rf41c1783309e4c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9601b5ae1d416d" /><Relationship Type="http://schemas.openxmlformats.org/officeDocument/2006/relationships/notesMaster" Target="/ppt/notesMasters/notesMaster1.xml" Id="Rbb358db6ad774e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사진: 20260517_132640.jpg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사진: 20260517_132652.jpg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사진: 20260517_132652.jpg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사진: 20260517_132645.jpg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사진: 20260517_132645.jpg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사진: 20260517_132652.jpg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697291e9da48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a610a41b214432" /><Relationship Type="http://schemas.openxmlformats.org/officeDocument/2006/relationships/slideLayout" Target="/ppt/slideLayouts/slideLayout1.xml" Id="R2f55c0c19e8e47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55c0c19e8e47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da90fa19346d9" /><Relationship Type="http://schemas.openxmlformats.org/officeDocument/2006/relationships/image" Target="/ppt/media/image.jpeg" Id="R6c850c9c6ce3403b" /><Relationship Type="http://schemas.openxmlformats.org/officeDocument/2006/relationships/notesSlide" Target="/ppt/notesSlides/notesSlide1.xml" Id="R450ca87901ba47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7a57abd644511" /><Relationship Type="http://schemas.openxmlformats.org/officeDocument/2006/relationships/image" Target="/ppt/media/image2.jpeg" Id="R9caea96644084521" /><Relationship Type="http://schemas.openxmlformats.org/officeDocument/2006/relationships/notesSlide" Target="/ppt/notesSlides/notesSlide2.xml" Id="R39ebec29ccf540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c8dbc8c924570" /><Relationship Type="http://schemas.openxmlformats.org/officeDocument/2006/relationships/notesSlide" Target="/ppt/notesSlides/notesSlide3.xml" Id="Rd1e0be8bf29043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407860e90481c" /><Relationship Type="http://schemas.openxmlformats.org/officeDocument/2006/relationships/image" Target="/ppt/media/image3.jpeg" Id="Ra11e3ca668984a53" /><Relationship Type="http://schemas.openxmlformats.org/officeDocument/2006/relationships/notesSlide" Target="/ppt/notesSlides/notesSlide4.xml" Id="Rd33d1f7e3bb449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8e8c5dd784907" /><Relationship Type="http://schemas.openxmlformats.org/officeDocument/2006/relationships/notesSlide" Target="/ppt/notesSlides/notesSlide5.xml" Id="R8e18a9d145fd49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3e3a35cb24ed6" /><Relationship Type="http://schemas.openxmlformats.org/officeDocument/2006/relationships/notesSlide" Target="/ppt/notesSlides/notesSlide6.xml" Id="R491e471c9c5046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647C7-9FBC-4D62-A1F6-692BEDC9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67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7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58F5F-92E5-48C2-BA82-16D80331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0"/>
            <a:ext cx="752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093F0-294D-4FB3-9C3E-84411CD2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42B"/>
                </a:solidFill>
              </a:defRPr>
            </a:pPr>
            <a:r>
              <a:rPr sz="1650" b="1">
                <a:solidFill>
                  <a:srgbClr val="11142B"/>
                </a:solidFill>
              </a:rPr>
              <a:t>작물의 균형 있는 생육을 위한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99B80-4E95-4C6E-B71E-D4998AAC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371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142B"/>
                </a:solidFill>
              </a:defRPr>
            </a:pPr>
            <a:r>
              <a:rPr sz="4950" b="1">
                <a:solidFill>
                  <a:srgbClr val="11142B"/>
                </a:solidFill>
              </a:rPr>
              <a:t>강타자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FBD30-CB89-47DF-A54C-0FC10D5D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62C2C"/>
                </a:solidFill>
              </a:defRPr>
            </a:pPr>
            <a:r>
              <a:rPr sz="1800" b="1">
                <a:solidFill>
                  <a:srgbClr val="D62C2C"/>
                </a:solidFill>
              </a:rPr>
              <a:t>미량요소 복합비료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64B0F-2B3E-486F-9031-83C8A2F8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62300"/>
            <a:ext cx="3476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2B"/>
                </a:solidFill>
              </a:defRPr>
            </a:pPr>
            <a:r>
              <a:rPr sz="2025" b="1">
                <a:solidFill>
                  <a:srgbClr val="11142B"/>
                </a:solidFill>
              </a:rPr>
              <a:t>냉해·고온기 스트레스 관리와</a:t>
            </a:r>
          </a:p>
          <a:p xmlns:a="http://schemas.openxmlformats.org/drawingml/2006/main">
            <a:pPr algn="l">
              <a:defRPr sz="2025" b="1">
                <a:solidFill>
                  <a:srgbClr val="11142B"/>
                </a:solidFill>
              </a:defRPr>
            </a:pPr>
            <a:r>
              <a:rPr sz="2025" b="1">
                <a:solidFill>
                  <a:srgbClr val="11142B"/>
                </a:solidFill>
              </a:rPr>
              <a:t>생육 밸런스 향상에 활용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8D793-BA4B-4E46-B021-15ED03EB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42B"/>
                </a:solidFill>
              </a:defRPr>
            </a:pPr>
            <a:r>
              <a:rPr sz="1350" b="1">
                <a:solidFill>
                  <a:srgbClr val="11142B"/>
                </a:solidFill>
              </a:rPr>
              <a:t>전 작물  ·  500mL  ·  500~1,000배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50c9c6ce3403b"/>
          <a:stretch xmlns:a="http://schemas.openxmlformats.org/drawingml/2006/main"/>
        </p:blipFill>
        <p:spPr>
          <a:xfrm xmlns:a="http://schemas.openxmlformats.org/drawingml/2006/main">
            <a:off x="6194192" y="342900"/>
            <a:ext cx="4232742" cy="6143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1015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DD4084-7294-4B1C-A58E-5DB79AA7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2C2C"/>
                </a:solidFill>
              </a:defRPr>
            </a:pPr>
            <a:r>
              <a:rPr sz="1200" b="1">
                <a:solidFill>
                  <a:srgbClr val="D62C2C"/>
                </a:solidFill>
              </a:rPr>
              <a:t>PRODUCT 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779FE-89DA-4B6F-8B57-55E2E6FA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작물 생육 전반의 밸런스를 고려한 복합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6C058-2456-401D-8E98-2C647036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71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ea96644084521"/>
          <a:srcRect xmlns:a="http://schemas.openxmlformats.org/drawingml/2006/main" l="0" t="14894" r="0" b="148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4476750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8871A-6A66-4287-9365-47A77C4E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76400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42B"/>
                </a:solidFill>
              </a:defRPr>
            </a:pPr>
            <a:r>
              <a:rPr sz="2175" b="1">
                <a:solidFill>
                  <a:srgbClr val="11142B"/>
                </a:solidFill>
              </a:rPr>
              <a:t>노르웨이산 해조추출물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59D3C-EDA9-4CCD-BB1E-8A1D0846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52650"/>
            <a:ext cx="552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6565"/>
                </a:solidFill>
              </a:defRPr>
            </a:pPr>
            <a:r>
              <a:rPr sz="1500" b="0">
                <a:solidFill>
                  <a:srgbClr val="656565"/>
                </a:solidFill>
              </a:rPr>
              <a:t>라벨에 기재된 해조추출물과 기능성 물질을 조합한 고농도 제품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17516-BF67-489B-9414-2E3B66AC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71800"/>
            <a:ext cx="542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8B5C5-B1E1-411B-9B1E-B866D9FB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2B"/>
                </a:solidFill>
              </a:defRPr>
            </a:pPr>
            <a:r>
              <a:rPr sz="2025" b="1">
                <a:solidFill>
                  <a:srgbClr val="11142B"/>
                </a:solidFill>
              </a:rPr>
              <a:t>흡수하기 쉬운 형태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BFE85-602D-4DB9-9FC4-55559147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81400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6565"/>
                </a:solidFill>
              </a:defRPr>
            </a:pPr>
            <a:r>
              <a:rPr sz="1500" b="0">
                <a:solidFill>
                  <a:srgbClr val="656565"/>
                </a:solidFill>
              </a:rPr>
              <a:t>작물 흡수를 고려한 형태로 제조되어 신속한 활용을 돕습니다.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426F7-514C-4448-B4A3-6E5FD680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0EFB2-D802-4881-9D80-DD350E77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2B"/>
                </a:solidFill>
              </a:defRPr>
            </a:pPr>
            <a:r>
              <a:rPr sz="2025" b="1">
                <a:solidFill>
                  <a:srgbClr val="11142B"/>
                </a:solidFill>
              </a:rPr>
              <a:t>생육 밸런스 향상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8593A-154B-4603-957E-5B273BCC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33950"/>
            <a:ext cx="552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6565"/>
                </a:solidFill>
              </a:defRPr>
            </a:pPr>
            <a:r>
              <a:rPr sz="1500" b="0">
                <a:solidFill>
                  <a:srgbClr val="656565"/>
                </a:solidFill>
              </a:rPr>
              <a:t>뿌리 발달, 생육 증진 및 고품질 농산물 생산 관리에 활용합니다.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CBB2C-7648-44E0-84A7-3E41568B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6565"/>
                </a:solidFill>
              </a:defRPr>
            </a:pPr>
            <a:r>
              <a:rPr sz="900" b="0">
                <a:solidFill>
                  <a:srgbClr val="656565"/>
                </a:solidFill>
              </a:rPr>
              <a:t>강타자  |  미량요소 복합비료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E80E4-7C60-4443-A9F6-EC468EA1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6565"/>
                </a:solidFill>
              </a:defRPr>
            </a:pPr>
            <a:r>
              <a:rPr sz="900" b="1">
                <a:solidFill>
                  <a:srgbClr val="65656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28301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26B80-803E-4284-92A1-10E6E64F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2C2C"/>
                </a:solidFill>
              </a:defRPr>
            </a:pPr>
            <a:r>
              <a:rPr sz="1200" b="1">
                <a:solidFill>
                  <a:srgbClr val="D62C2C"/>
                </a:solidFill>
              </a:rPr>
              <a:t>KEY BENEFITS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8480C-9217-46C1-9A74-C57B537E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재배 환경 변화에 대응하는 세 가지 관리 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F7543-2A2B-479E-9150-E8F46393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7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F9920-91A9-469A-9C18-3D58CE5B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3D719"/>
                </a:solidFill>
              </a:defRPr>
            </a:pPr>
            <a:r>
              <a:rPr sz="3900" b="1">
                <a:solidFill>
                  <a:srgbClr val="F3D71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A5594-8FFA-4B42-BA76-92B93065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3028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B64B8-8700-42F9-A152-0CBFB41B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302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2B"/>
                </a:solidFill>
              </a:defRPr>
            </a:pPr>
            <a:r>
              <a:rPr sz="2025" b="1">
                <a:solidFill>
                  <a:srgbClr val="11142B"/>
                </a:solidFill>
              </a:rPr>
              <a:t>냉해 예방 관리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40065-6DD7-4D9E-BADC-60B16B7B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3028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6565"/>
                </a:solidFill>
              </a:defRPr>
            </a:pPr>
            <a:r>
              <a:rPr sz="1575" b="0">
                <a:solidFill>
                  <a:srgbClr val="656565"/>
                </a:solidFill>
              </a:rPr>
              <a:t>저온 환경에서 작물의</a:t>
            </a:r>
          </a:p>
          <a:p xmlns:a="http://schemas.openxmlformats.org/drawingml/2006/main">
            <a:pPr algn="l">
              <a:defRPr sz="1575" b="0">
                <a:solidFill>
                  <a:srgbClr val="656565"/>
                </a:solidFill>
              </a:defRPr>
            </a:pPr>
            <a:r>
              <a:rPr sz="1575" b="0">
                <a:solidFill>
                  <a:srgbClr val="656565"/>
                </a:solidFill>
              </a:rPr>
              <a:t>생육 안정 관리에 활용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83224-2505-48C1-91FA-1DFA8F83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62125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3D719"/>
                </a:solidFill>
              </a:defRPr>
            </a:pPr>
            <a:r>
              <a:rPr sz="3900" b="1">
                <a:solidFill>
                  <a:srgbClr val="F3D71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63692-5715-430B-97C2-7B6EDA33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524125"/>
            <a:ext cx="3028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43776-65B6-468F-B817-AA917CBB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743200"/>
            <a:ext cx="302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2B"/>
                </a:solidFill>
              </a:defRPr>
            </a:pPr>
            <a:r>
              <a:rPr sz="2025" b="1">
                <a:solidFill>
                  <a:srgbClr val="11142B"/>
                </a:solidFill>
              </a:rPr>
              <a:t>고온기 스트레스 관리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5CF98-39D2-43D1-A75E-D0B601C0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38525"/>
            <a:ext cx="3028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6565"/>
                </a:solidFill>
              </a:defRPr>
            </a:pPr>
            <a:r>
              <a:rPr sz="1575" b="0">
                <a:solidFill>
                  <a:srgbClr val="656565"/>
                </a:solidFill>
              </a:rPr>
              <a:t>고온기에 발생하는</a:t>
            </a:r>
          </a:p>
          <a:p xmlns:a="http://schemas.openxmlformats.org/drawingml/2006/main">
            <a:pPr algn="l">
              <a:defRPr sz="1575" b="0">
                <a:solidFill>
                  <a:srgbClr val="656565"/>
                </a:solidFill>
              </a:defRPr>
            </a:pPr>
            <a:r>
              <a:rPr sz="1575" b="0">
                <a:solidFill>
                  <a:srgbClr val="656565"/>
                </a:solidFill>
              </a:rPr>
              <a:t>환경 스트레스 관리에 활용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FFBAF-FC86-409B-8AC3-F1642E3F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62125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3D719"/>
                </a:solidFill>
              </a:defRPr>
            </a:pPr>
            <a:r>
              <a:rPr sz="3900" b="1">
                <a:solidFill>
                  <a:srgbClr val="F3D719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7A2F5-EDD9-4C7B-B666-F3627023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24125"/>
            <a:ext cx="3028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467C3-8A03-4A58-977F-342F2ECE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43200"/>
            <a:ext cx="302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2B"/>
                </a:solidFill>
              </a:defRPr>
            </a:pPr>
            <a:r>
              <a:rPr sz="2025" b="1">
                <a:solidFill>
                  <a:srgbClr val="11142B"/>
                </a:solidFill>
              </a:rPr>
              <a:t>생육·품질 관리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4F68E7-BA76-4D64-A5B6-733F0C15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38525"/>
            <a:ext cx="3028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6565"/>
                </a:solidFill>
              </a:defRPr>
            </a:pPr>
            <a:r>
              <a:rPr sz="1575" b="0">
                <a:solidFill>
                  <a:srgbClr val="656565"/>
                </a:solidFill>
              </a:rPr>
              <a:t>생리장해 개선과 생육 증진을</a:t>
            </a:r>
          </a:p>
          <a:p xmlns:a="http://schemas.openxmlformats.org/drawingml/2006/main">
            <a:pPr algn="l">
              <a:defRPr sz="1575" b="0">
                <a:solidFill>
                  <a:srgbClr val="656565"/>
                </a:solidFill>
              </a:defRPr>
            </a:pPr>
            <a:r>
              <a:rPr sz="1575" b="0">
                <a:solidFill>
                  <a:srgbClr val="656565"/>
                </a:solidFill>
              </a:rPr>
              <a:t>통한 수확·품질 관리에 활용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6343CC-6D38-4904-822E-842893A4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6565"/>
                </a:solidFill>
              </a:defRPr>
            </a:pPr>
            <a:r>
              <a:rPr sz="1200" b="0">
                <a:solidFill>
                  <a:srgbClr val="656565"/>
                </a:solidFill>
              </a:rPr>
              <a:t>※ 제품 라벨에 기재된 표현을 바탕으로 정리했으며, 재배 환경과 작물 상태에 따라 활용 결과는 달라질 수 있습니다.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968760-0BF2-4AB1-A122-B680F7A1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6565"/>
                </a:solidFill>
              </a:defRPr>
            </a:pPr>
            <a:r>
              <a:rPr sz="900" b="0">
                <a:solidFill>
                  <a:srgbClr val="656565"/>
                </a:solidFill>
              </a:rPr>
              <a:t>강타자  |  미량요소 복합비료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F04E4-2803-4BEF-8F49-33D241A3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6565"/>
                </a:solidFill>
              </a:defRPr>
            </a:pPr>
            <a:r>
              <a:rPr sz="900" b="1">
                <a:solidFill>
                  <a:srgbClr val="65656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16572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BC9908-1D64-412D-80FE-CA946F57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2C2C"/>
                </a:solidFill>
              </a:defRPr>
            </a:pPr>
            <a:r>
              <a:rPr sz="1200" b="1">
                <a:solidFill>
                  <a:srgbClr val="D62C2C"/>
                </a:solidFill>
              </a:rPr>
              <a:t>HOW TO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503E6-BA58-42A3-8E9C-36120587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전 작물 생육 전반에 1~2주 간격으로 사용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E15E5-25BC-4426-8067-86C5FD95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71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e3ca668984a53"/>
          <a:srcRect xmlns:a="http://schemas.openxmlformats.org/drawingml/2006/main" l="0" t="10268" r="0" b="102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4000500" cy="4238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3CC05-EA89-41A6-B20F-93F49849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52600"/>
            <a:ext cx="600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3"/>
          </a:solidFill>
          <a:ln xmlns:a="http://schemas.openxmlformats.org/drawingml/2006/main" w="9525">
            <a:solidFill>
              <a:srgbClr val="D8D3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BC81F-CE8E-4EFB-8FFE-14D5DF6B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859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56565"/>
                </a:solidFill>
              </a:defRPr>
            </a:pPr>
            <a:r>
              <a:rPr sz="1500" b="1">
                <a:solidFill>
                  <a:srgbClr val="656565"/>
                </a:solidFill>
              </a:rPr>
              <a:t>대상 작물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046B4-D021-4CAE-A9D6-BD4523DA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859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2B"/>
                </a:solidFill>
              </a:defRPr>
            </a:pPr>
            <a:r>
              <a:rPr sz="2025" b="1">
                <a:solidFill>
                  <a:srgbClr val="11142B"/>
                </a:solidFill>
              </a:rPr>
              <a:t>전 작물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68335-20AC-42E5-8410-CFBE553D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86050"/>
            <a:ext cx="600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7AEE5-ED52-4C74-91B2-37DD7CF3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194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56565"/>
                </a:solidFill>
              </a:defRPr>
            </a:pPr>
            <a:r>
              <a:rPr sz="1500" b="1">
                <a:solidFill>
                  <a:srgbClr val="656565"/>
                </a:solidFill>
              </a:rPr>
              <a:t>사용 시기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8B2F1-1EA6-4747-BA9D-14E5C925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194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2B"/>
                </a:solidFill>
              </a:defRPr>
            </a:pPr>
            <a:r>
              <a:rPr sz="2025" b="1">
                <a:solidFill>
                  <a:srgbClr val="11142B"/>
                </a:solidFill>
              </a:rPr>
              <a:t>생육 전반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554DE-B1C3-4507-A2B9-2218C41B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19500"/>
            <a:ext cx="600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313CE-C805-4970-96E4-EFDE7C52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528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56565"/>
                </a:solidFill>
              </a:defRPr>
            </a:pPr>
            <a:r>
              <a:rPr sz="1500" b="1">
                <a:solidFill>
                  <a:srgbClr val="656565"/>
                </a:solidFill>
              </a:rPr>
              <a:t>사용 간격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04229-49D6-4655-98F0-12E55E29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528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2B"/>
                </a:solidFill>
              </a:defRPr>
            </a:pPr>
            <a:r>
              <a:rPr sz="2025" b="1">
                <a:solidFill>
                  <a:srgbClr val="11142B"/>
                </a:solidFill>
              </a:rPr>
              <a:t>1~2주 간격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429D9-6D01-40E6-9F99-2258339E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52950"/>
            <a:ext cx="600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AE0398-58A2-4132-AD66-65A6417B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863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56565"/>
                </a:solidFill>
              </a:defRPr>
            </a:pPr>
            <a:r>
              <a:rPr sz="1500" b="1">
                <a:solidFill>
                  <a:srgbClr val="656565"/>
                </a:solidFill>
              </a:rPr>
              <a:t>희석 배수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04FA7-2271-4E10-AC93-D94CE9C7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863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42B"/>
                </a:solidFill>
              </a:defRPr>
            </a:pPr>
            <a:r>
              <a:rPr sz="2025" b="1">
                <a:solidFill>
                  <a:srgbClr val="11142B"/>
                </a:solidFill>
              </a:rPr>
              <a:t>500~1,000배 희석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71C2F0-9608-4D64-80E7-9DD23CAB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62C2C"/>
                </a:solidFill>
              </a:defRPr>
            </a:pPr>
            <a:r>
              <a:rPr sz="1275" b="1">
                <a:solidFill>
                  <a:srgbClr val="D62C2C"/>
                </a:solidFill>
              </a:rPr>
              <a:t>물 20L 기준 환산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132CC0-579B-4441-85D0-7BB8EC6F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435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500배: 40mL   |   1,000배: 20mL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4E7C9D-DC87-49C1-B915-8B7409D2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6565"/>
                </a:solidFill>
              </a:defRPr>
            </a:pPr>
            <a:r>
              <a:rPr sz="900" b="0">
                <a:solidFill>
                  <a:srgbClr val="656565"/>
                </a:solidFill>
              </a:rPr>
              <a:t>강타자  |  미량요소 복합비료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7632BD-F9D6-4F39-BAD5-89032D9F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6565"/>
                </a:solidFill>
              </a:defRPr>
            </a:pPr>
            <a:r>
              <a:rPr sz="900" b="1">
                <a:solidFill>
                  <a:srgbClr val="65656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148354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195C59-A33F-4140-AB93-36F579E4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2C2C"/>
                </a:solidFill>
              </a:defRPr>
            </a:pPr>
            <a:r>
              <a:rPr sz="1200" b="1">
                <a:solidFill>
                  <a:srgbClr val="D62C2C"/>
                </a:solidFill>
              </a:rPr>
              <a:t>PRODUCT FACTS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295CA-ABB1-40B1-9996-77DBAA8F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제품 라벨에서 확인한 기본 정보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6CBAD-E02C-41A3-8B75-A702C6E2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7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B6DB7-7516-49F7-8FC9-2B8616AC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DFBCC-D000-4552-BE11-811CF800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56565"/>
                </a:solidFill>
              </a:defRPr>
            </a:pPr>
            <a:r>
              <a:rPr sz="1425" b="1">
                <a:solidFill>
                  <a:srgbClr val="656565"/>
                </a:solidFill>
              </a:rPr>
              <a:t>제품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0C836-4B01-496E-BA4F-E1C0C3D7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526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42B"/>
                </a:solidFill>
              </a:defRPr>
            </a:pPr>
            <a:r>
              <a:rPr sz="1725" b="1">
                <a:solidFill>
                  <a:srgbClr val="11142B"/>
                </a:solidFill>
              </a:rPr>
              <a:t>미량요소 복합비료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8B4F7-4AD6-4242-B117-23F450C2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8452F-6D5C-46A5-88D7-05CF681D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56565"/>
                </a:solidFill>
              </a:defRPr>
            </a:pPr>
            <a:r>
              <a:rPr sz="1425" b="1">
                <a:solidFill>
                  <a:srgbClr val="656565"/>
                </a:solidFill>
              </a:rPr>
              <a:t>내용량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C48EA-63F8-4CC4-BE67-0424F895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574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42B"/>
                </a:solidFill>
              </a:defRPr>
            </a:pPr>
            <a:r>
              <a:rPr sz="1725" b="1">
                <a:solidFill>
                  <a:srgbClr val="11142B"/>
                </a:solidFill>
              </a:rPr>
              <a:t>500mL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BD2DE-FD22-4726-9FD7-E9B1F906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74885-861E-417C-8BF9-26987C23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56565"/>
                </a:solidFill>
              </a:defRPr>
            </a:pPr>
            <a:r>
              <a:rPr sz="1425" b="1">
                <a:solidFill>
                  <a:srgbClr val="656565"/>
                </a:solidFill>
              </a:rPr>
              <a:t>보증성분량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2AAFD-BF6E-4440-99A4-37DA2C09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42B"/>
                </a:solidFill>
              </a:defRPr>
            </a:pPr>
            <a:r>
              <a:rPr sz="1725" b="1">
                <a:solidFill>
                  <a:srgbClr val="11142B"/>
                </a:solidFill>
              </a:rPr>
              <a:t>붕소 0.05%  ·  몰리브덴 0.0005%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29D27-210E-4715-9FD7-AF5B20AD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C47D0-7118-4A53-8B1A-0FABD82C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56565"/>
                </a:solidFill>
              </a:defRPr>
            </a:pPr>
            <a:r>
              <a:rPr sz="1425" b="1">
                <a:solidFill>
                  <a:srgbClr val="656565"/>
                </a:solidFill>
              </a:rPr>
              <a:t>생산업등록번호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DC8D39-EFDE-49F2-87B7-45DE7492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671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42B"/>
                </a:solidFill>
              </a:defRPr>
            </a:pPr>
            <a:r>
              <a:rPr sz="1725" b="0">
                <a:solidFill>
                  <a:srgbClr val="11142B"/>
                </a:solidFill>
              </a:rPr>
              <a:t>경북안동 44-가-10804호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88ADB-44A1-4366-9580-B827A746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D019CE-4941-4540-BA08-37515DDD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56565"/>
                </a:solidFill>
              </a:defRPr>
            </a:pPr>
            <a:r>
              <a:rPr sz="1425" b="1">
                <a:solidFill>
                  <a:srgbClr val="656565"/>
                </a:solidFill>
              </a:rPr>
              <a:t>제조원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E8FA69-24F2-4A3B-AA7B-4876F264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720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42B"/>
                </a:solidFill>
              </a:defRPr>
            </a:pPr>
            <a:r>
              <a:rPr sz="1725" b="0">
                <a:solidFill>
                  <a:srgbClr val="11142B"/>
                </a:solidFill>
              </a:rPr>
              <a:t>드림인네이처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176BE0-5813-40FE-8277-80BC3E24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66B54A-7EF2-44AA-83D0-5C754CBE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56565"/>
                </a:solidFill>
              </a:defRPr>
            </a:pPr>
            <a:r>
              <a:rPr sz="1425" b="1">
                <a:solidFill>
                  <a:srgbClr val="656565"/>
                </a:solidFill>
              </a:rPr>
              <a:t>표기 연락처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FC1468-1726-40A7-9ABB-1F9A31B7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768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42B"/>
                </a:solidFill>
              </a:defRPr>
            </a:pPr>
            <a:r>
              <a:rPr sz="1725" b="0">
                <a:solidFill>
                  <a:srgbClr val="11142B"/>
                </a:solidFill>
              </a:rPr>
              <a:t>054-841-4720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BA1F1A-E369-4D76-B1B7-83CA75E9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6565"/>
                </a:solidFill>
              </a:defRPr>
            </a:pPr>
            <a:r>
              <a:rPr sz="900" b="0">
                <a:solidFill>
                  <a:srgbClr val="656565"/>
                </a:solidFill>
              </a:rPr>
              <a:t>강타자  |  미량요소 복합비료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F1E408-EC49-457F-B634-F8133EED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6565"/>
                </a:solidFill>
              </a:defRPr>
            </a:pPr>
            <a:r>
              <a:rPr sz="900" b="1">
                <a:solidFill>
                  <a:srgbClr val="65656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867184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4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B76486-EF4D-4354-A992-20F564B1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안전하고 정확하게 사용하세요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28ADB-D6F2-4D3E-AF2D-87D34E95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7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7BD13-C832-488E-B90D-76AB59C4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80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D719"/>
                </a:solidFill>
              </a:defRPr>
            </a:pPr>
            <a:r>
              <a:rPr sz="2250" b="1">
                <a:solidFill>
                  <a:srgbClr val="F3D719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B1488-D90D-4D03-AF8D-B058EE0B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7526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농약, 기계유, 석회유황합제, 석회보르도액, 강산성 제품과의 혼용을 삼가세요.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9280B-18D0-42CD-A140-ED62B899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955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DAEC9-0AAA-4B54-9EC8-CDF3DD27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80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D719"/>
                </a:solidFill>
              </a:defRPr>
            </a:pPr>
            <a:r>
              <a:rPr sz="2250" b="1">
                <a:solidFill>
                  <a:srgbClr val="F3D71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C31FE-5EAC-470D-8F52-0EF66DC3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33675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사용 농도와 사용 간격을 준수하고, 지나친 사용을 피하세요.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E1C8F-EF77-4E2A-B8ED-9C410D81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7662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1C009-0E26-4338-97EE-D62A9EDD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80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D719"/>
                </a:solidFill>
              </a:defRPr>
            </a:pPr>
            <a:r>
              <a:rPr sz="2250" b="1">
                <a:solidFill>
                  <a:srgbClr val="F3D719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15194-1DC9-4923-8149-70B0BE56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1475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서늘한 곳에 보관하고 어린이의 손이 닿지 않도록 하세요.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866DC-4052-401F-AC3F-93F83961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577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437B4-1EF1-488B-AD32-554B2E38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80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D719"/>
                </a:solidFill>
              </a:defRPr>
            </a:pPr>
            <a:r>
              <a:rPr sz="2250" b="1">
                <a:solidFill>
                  <a:srgbClr val="F3D719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66708-B715-4A36-ACFF-9A5A272F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95825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제품을 먹지 마세요.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3584A9-CF6A-46FA-A4FA-81142CD4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387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BD4AA-D19C-4EC7-A227-2935787C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D719"/>
                </a:solidFill>
              </a:defRPr>
            </a:pPr>
            <a:r>
              <a:rPr sz="1350" b="1">
                <a:solidFill>
                  <a:srgbClr val="F3D719"/>
                </a:solidFill>
              </a:rPr>
              <a:t>강타자  |  500mL  |  전 작물용 미량요소 복합비료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BCB038-D354-4C1D-83A7-EDD57E27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151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6B9CA"/>
                </a:solidFill>
              </a:defRPr>
            </a:pPr>
            <a:r>
              <a:rPr sz="900" b="1">
                <a:solidFill>
                  <a:srgbClr val="B6B9C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234883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2026-08-07T07:35:07.2210000Z</dcterms:created>
  <dcterms:modified xsi:type="dcterms:W3CDTF">2026-08-07T07:35:07.2220000Z</dcterms:modified>
</coreProperties>
</file>