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899a5fe84b49b0" /><Relationship Type="http://schemas.openxmlformats.org/officeDocument/2006/relationships/extended-properties" Target="/docProps/app.xml" Id="R08801b965134471f" /><Relationship Type="http://schemas.openxmlformats.org/officeDocument/2006/relationships/officeDocument" Target="/ppt/presentation.xml" Id="R1dfce77eafee42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5e2501383b434f"/>
  </p:sldMasterIdLst>
  <p:notesMasterIdLst>
    <p:notesMasterId xmlns:r="http://schemas.openxmlformats.org/officeDocument/2006/relationships" r:id="Rc296e5b2526c41c5"/>
  </p:notesMasterIdLst>
  <p:sldIdLst>
    <p:sldId xmlns:r="http://schemas.openxmlformats.org/officeDocument/2006/relationships" id="256" r:id="Rfe9a51718a154ede"/>
    <p:sldId xmlns:r="http://schemas.openxmlformats.org/officeDocument/2006/relationships" id="257" r:id="R272dcb25be6e41c0"/>
    <p:sldId xmlns:r="http://schemas.openxmlformats.org/officeDocument/2006/relationships" id="258" r:id="Rc245f2d69ecf4ab8"/>
    <p:sldId xmlns:r="http://schemas.openxmlformats.org/officeDocument/2006/relationships" id="259" r:id="Rfb9fcad2c56c464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1b3bee02864304" /><Relationship Type="http://schemas.openxmlformats.org/officeDocument/2006/relationships/slideMaster" Target="/ppt/slideMasters/slideMaster1.xml" Id="R4e5e2501383b434f" /><Relationship Type="http://schemas.openxmlformats.org/officeDocument/2006/relationships/notesMaster" Target="/ppt/notesMasters/notesMaster1.xml" Id="Rc296e5b2526c41c5" /><Relationship Type="http://schemas.openxmlformats.org/officeDocument/2006/relationships/presProps" Target="/ppt/presProps.xml" Id="R5996a6c23992430a" /><Relationship Type="http://schemas.openxmlformats.org/officeDocument/2006/relationships/tableStyles" Target="/ppt/tableStyles.xml" Id="R664140cd339f4068" /><Relationship Type="http://schemas.openxmlformats.org/officeDocument/2006/relationships/slide" Target="/ppt/slides/slide1.xml" Id="Rfe9a51718a154ede" /><Relationship Type="http://schemas.openxmlformats.org/officeDocument/2006/relationships/slide" Target="/ppt/slides/slide2.xml" Id="R272dcb25be6e41c0" /><Relationship Type="http://schemas.openxmlformats.org/officeDocument/2006/relationships/slide" Target="/ppt/slides/slide3.xml" Id="Rc245f2d69ecf4ab8" /><Relationship Type="http://schemas.openxmlformats.org/officeDocument/2006/relationships/slide" Target="/ppt/slides/slide4.xml" Id="Rfb9fcad2c56c46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6d5ed2ebea4b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81ffe48af943eb" /><Relationship Type="http://schemas.openxmlformats.org/officeDocument/2006/relationships/notesMaster" Target="/ppt/notesMasters/notesMaster1.xml" Id="R6e65adf6838447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f129bc3fd745a4" /><Relationship Type="http://schemas.openxmlformats.org/officeDocument/2006/relationships/notesMaster" Target="/ppt/notesMasters/notesMaster1.xml" Id="Rf90e719ca4b24e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2578c095f94da0" /><Relationship Type="http://schemas.openxmlformats.org/officeDocument/2006/relationships/notesMaster" Target="/ppt/notesMasters/notesMaster1.xml" Id="R184719ba5c7240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1e74e2c87d4700" /><Relationship Type="http://schemas.openxmlformats.org/officeDocument/2006/relationships/notesMaster" Target="/ppt/notesMasters/notesMaster1.xml" Id="Rf7bdaac86fe543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제품 사진 및 제품 라벨: 20260517_132604.jpg, 20260517_132611.jpg, 20260517_132617.jpg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제품 사진 및 제품 라벨: 20260517_132604.jpg, 20260517_132611.jpg, 20260517_132617.jpg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제품 사진 및 제품 라벨: 20260517_132604.jpg, 20260517_132611.jpg, 20260517_132617.jpg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제품 사진 및 제품 라벨: 20260517_132604.jpg, 20260517_132611.jpg, 20260517_132617.jpg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38a81d4fd045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ef9a46c9aa4e9a" /><Relationship Type="http://schemas.openxmlformats.org/officeDocument/2006/relationships/slideLayout" Target="/ppt/slideLayouts/slideLayout1.xml" Id="R2137f4f826b744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37f4f826b744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1ae98e4714f21" /><Relationship Type="http://schemas.openxmlformats.org/officeDocument/2006/relationships/image" Target="/ppt/media/image.jpeg" Id="R25bcfda517234b06" /><Relationship Type="http://schemas.openxmlformats.org/officeDocument/2006/relationships/notesSlide" Target="/ppt/notesSlides/notesSlide1.xml" Id="R62dc367ca29f4e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3b8238d0a9479d" /><Relationship Type="http://schemas.openxmlformats.org/officeDocument/2006/relationships/image" Target="/ppt/media/image2.jpeg" Id="R8e476cc286d54d89" /><Relationship Type="http://schemas.openxmlformats.org/officeDocument/2006/relationships/notesSlide" Target="/ppt/notesSlides/notesSlide2.xml" Id="Reedbea42490f41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460a18e9b24889" /><Relationship Type="http://schemas.openxmlformats.org/officeDocument/2006/relationships/image" Target="/ppt/media/image3.jpeg" Id="R7172fb99eb524c54" /><Relationship Type="http://schemas.openxmlformats.org/officeDocument/2006/relationships/notesSlide" Target="/ppt/notesSlides/notesSlide3.xml" Id="R7aa5b68779324c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bca668de44c1c" /><Relationship Type="http://schemas.openxmlformats.org/officeDocument/2006/relationships/notesSlide" Target="/ppt/notesSlides/notesSlide4.xml" Id="R54afcbac6d344f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d-bar">
            <a:extLst xmlns:a="http://schemas.openxmlformats.org/drawingml/2006/main">
              <a:ext uri="{FF2B5EF4-FFF2-40B4-BE49-F238E27FC236}">
                <a16:creationId xmlns:a16="http://schemas.microsoft.com/office/drawing/2014/main" id="{463B64C8-9589-4CE1-A3C5-D981A16F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2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03214AE9-706D-48E1-A770-1CF90EEF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552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2E31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C82E31"/>
                </a:solidFill>
                <a:latin typeface="Noto Sans KR"/>
                <a:ea typeface="Noto Sans KR"/>
                <a:cs typeface="Noto Sans KR"/>
              </a:rPr>
              <a:t>착색 · 당도 · 수세 관리용 액상 농자재</a:t>
            </a:r>
          </a:p>
        </p:txBody>
      </p:sp>
      <p:sp>
        <p:nvSpPr>
          <p:cNvPr id="3" name="product-name">
            <a:extLst xmlns:a="http://schemas.openxmlformats.org/drawingml/2006/main">
              <a:ext uri="{FF2B5EF4-FFF2-40B4-BE49-F238E27FC236}">
                <a16:creationId xmlns:a16="http://schemas.microsoft.com/office/drawing/2014/main" id="{DEBDC554-902D-44AB-9A5A-3BF18A72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33450"/>
            <a:ext cx="5143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1717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칼라렉스</a:t>
            </a:r>
          </a:p>
        </p:txBody>
      </p:sp>
      <p:sp>
        <p:nvSpPr>
          <p:cNvPr id="4" name="english-name">
            <a:extLst xmlns:a="http://schemas.openxmlformats.org/drawingml/2006/main">
              <a:ext uri="{FF2B5EF4-FFF2-40B4-BE49-F238E27FC236}">
                <a16:creationId xmlns:a16="http://schemas.microsoft.com/office/drawing/2014/main" id="{34FA4C87-A4C6-47C4-964E-EAA418B2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COLOR-LEX</a:t>
            </a:r>
          </a:p>
        </p:txBody>
      </p:sp>
      <p:sp>
        <p:nvSpPr>
          <p:cNvPr id="5" name="hero-copy">
            <a:extLst xmlns:a="http://schemas.openxmlformats.org/drawingml/2006/main">
              <a:ext uri="{FF2B5EF4-FFF2-40B4-BE49-F238E27FC236}">
                <a16:creationId xmlns:a16="http://schemas.microsoft.com/office/drawing/2014/main" id="{69B49884-C985-4538-979A-C022C7BF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28900"/>
            <a:ext cx="495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1717"/>
                </a:solidFill>
                <a:latin typeface="Noto Sans KR"/>
                <a:ea typeface="Noto Sans KR"/>
                <a:cs typeface="Noto Sans KR"/>
              </a:defRPr>
            </a:pPr>
            <a:r>
              <a:rPr sz="2925" b="1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과실의 색과 품질을</a:t>
            </a:r>
          </a:p>
          <a:p xmlns:a="http://schemas.openxmlformats.org/drawingml/2006/main">
            <a:pPr algn="l">
              <a:defRPr sz="2925" b="1">
                <a:solidFill>
                  <a:srgbClr val="171717"/>
                </a:solidFill>
                <a:latin typeface="Noto Sans KR"/>
                <a:ea typeface="Noto Sans KR"/>
                <a:cs typeface="Noto Sans KR"/>
              </a:defRPr>
            </a:pPr>
            <a:r>
              <a:rPr sz="2925" b="1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균형 있게 관리합니다</a:t>
            </a:r>
          </a:p>
        </p:txBody>
      </p:sp>
      <p:sp>
        <p:nvSpPr>
          <p:cNvPr id="6" name="hero-body">
            <a:extLst xmlns:a="http://schemas.openxmlformats.org/drawingml/2006/main">
              <a:ext uri="{FF2B5EF4-FFF2-40B4-BE49-F238E27FC236}">
                <a16:creationId xmlns:a16="http://schemas.microsoft.com/office/drawing/2014/main" id="{3F38C710-E6A8-4B90-BB1B-9498EE85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29075"/>
            <a:ext cx="4857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인산·가리 화합물의 조합과 식물성 아미노산 18종을 바탕으로 착색 관리와 당도 향상에 도움을 주도록 설계된 미량요소 복합비료(액상)입니다.</a:t>
            </a:r>
          </a:p>
        </p:txBody>
      </p:sp>
      <p:sp>
        <p:nvSpPr>
          <p:cNvPr id="7" name="spec-band">
            <a:extLst xmlns:a="http://schemas.openxmlformats.org/drawingml/2006/main">
              <a:ext uri="{FF2B5EF4-FFF2-40B4-BE49-F238E27FC236}">
                <a16:creationId xmlns:a16="http://schemas.microsoft.com/office/drawing/2014/main" id="{79C0A913-ACC0-4E66-816F-974B1E83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43550"/>
            <a:ext cx="4857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pec">
            <a:extLst xmlns:a="http://schemas.openxmlformats.org/drawingml/2006/main">
              <a:ext uri="{FF2B5EF4-FFF2-40B4-BE49-F238E27FC236}">
                <a16:creationId xmlns:a16="http://schemas.microsoft.com/office/drawing/2014/main" id="{098EF74A-6DF3-4207-9F52-F5B33576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578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미량요소 복합비료(액상)  |  1L</a:t>
            </a:r>
          </a:p>
        </p:txBody>
      </p:sp>
      <p:sp>
        <p:nvSpPr>
          <p:cNvPr id="9" name="image-back">
            <a:extLst xmlns:a="http://schemas.openxmlformats.org/drawingml/2006/main">
              <a:ext uri="{FF2B5EF4-FFF2-40B4-BE49-F238E27FC236}">
                <a16:creationId xmlns:a16="http://schemas.microsoft.com/office/drawing/2014/main" id="{08935CAE-6B1B-4A47-A402-9DE410F4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6700"/>
            <a:ext cx="5505450" cy="6000750"/>
          </a:xfrm>
          <a:prstGeom xmlns:a="http://schemas.openxmlformats.org/drawingml/2006/main" prst="roundRect">
            <a:avLst>
              <a:gd name="adj" fmla="val 1384"/>
            </a:avLst>
          </a:prstGeom>
          <a:solidFill xmlns:a="http://schemas.openxmlformats.org/drawingml/2006/main">
            <a:srgbClr val="F2F2F0"/>
          </a:solidFill>
          <a:ln xmlns:a="http://schemas.openxmlformats.org/drawingml/2006/main" w="9525">
            <a:solidFill>
              <a:srgbClr val="D4D4D0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bcfda517234b06"/>
          <a:stretch xmlns:a="http://schemas.openxmlformats.org/drawingml/2006/main"/>
        </p:blipFill>
        <p:spPr>
          <a:xfrm xmlns:a="http://schemas.openxmlformats.org/drawingml/2006/main">
            <a:off x="7459763" y="400050"/>
            <a:ext cx="2892223" cy="5734050"/>
          </a:xfrm>
          <a:prstGeom xmlns:a="http://schemas.openxmlformats.org/drawingml/2006/main" prst="rect">
            <a:avLst/>
          </a:prstGeom>
        </p:spPr>
      </p:pic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B28DB4F5-5FE3-4406-B877-505243A8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7778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278987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2F1E3517-F152-4D80-818E-821DAEA5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2E31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C82E31"/>
                </a:solidFill>
                <a:latin typeface="Noto Sans KR"/>
                <a:ea typeface="Noto Sans KR"/>
                <a:cs typeface="Noto Sans KR"/>
              </a:rPr>
              <a:t>제품의 특징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B3CCCDA-9534-41E0-96F1-A1732EC2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1717"/>
                </a:solidFill>
                <a:latin typeface="Noto Sans KR"/>
                <a:ea typeface="Noto Sans KR"/>
                <a:cs typeface="Noto Sans KR"/>
              </a:defRPr>
            </a:pPr>
            <a:r>
              <a:rPr sz="2925" b="1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착색 관리부터 수세 회복까지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8715BC6-BFBE-4E2F-9A71-5CECA963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66825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2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BCB93B84-D626-44F4-B6A4-7DFCAE58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476cc286d54d89"/>
          <a:srcRect xmlns:a="http://schemas.openxmlformats.org/drawingml/2006/main" l="3778" t="0" r="37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600200"/>
            <a:ext cx="2971800" cy="4286250"/>
          </a:xfrm>
          <a:prstGeom xmlns:a="http://schemas.openxmlformats.org/drawingml/2006/main" prst="roundRect">
            <a:avLst>
              <a:gd name="adj" fmla="val 3846"/>
            </a:avLst>
          </a:prstGeom>
        </p:spPr>
      </p:pic>
      <p:sp>
        <p:nvSpPr>
          <p:cNvPr id="6" name="num-01">
            <a:extLst xmlns:a="http://schemas.openxmlformats.org/drawingml/2006/main">
              <a:ext uri="{FF2B5EF4-FFF2-40B4-BE49-F238E27FC236}">
                <a16:creationId xmlns:a16="http://schemas.microsoft.com/office/drawing/2014/main" id="{972420D8-F171-4AF0-8B23-4524BF03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6573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82E31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C82E31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7" name="line-01">
            <a:extLst xmlns:a="http://schemas.openxmlformats.org/drawingml/2006/main">
              <a:ext uri="{FF2B5EF4-FFF2-40B4-BE49-F238E27FC236}">
                <a16:creationId xmlns:a16="http://schemas.microsoft.com/office/drawing/2014/main" id="{74653203-4615-47DF-92B2-BA6666B2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133600"/>
            <a:ext cx="219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t-01">
            <a:extLst xmlns:a="http://schemas.openxmlformats.org/drawingml/2006/main">
              <a:ext uri="{FF2B5EF4-FFF2-40B4-BE49-F238E27FC236}">
                <a16:creationId xmlns:a16="http://schemas.microsoft.com/office/drawing/2014/main" id="{61598FB0-6BB5-4673-AD93-C9A85E04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3241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717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착색 관리</a:t>
            </a:r>
          </a:p>
        </p:txBody>
      </p:sp>
      <p:sp>
        <p:nvSpPr>
          <p:cNvPr id="9" name="fb-01">
            <a:extLst xmlns:a="http://schemas.openxmlformats.org/drawingml/2006/main">
              <a:ext uri="{FF2B5EF4-FFF2-40B4-BE49-F238E27FC236}">
                <a16:creationId xmlns:a16="http://schemas.microsoft.com/office/drawing/2014/main" id="{22906B01-0722-44CE-A434-04323785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914650"/>
            <a:ext cx="219075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인산·가리 화합물의 최적 조합과 착색 증진을 고려한 흡수 증진제 및 기능성 원료를 조합했습니다.</a:t>
            </a:r>
          </a:p>
        </p:txBody>
      </p:sp>
      <p:sp>
        <p:nvSpPr>
          <p:cNvPr id="10" name="num-02">
            <a:extLst xmlns:a="http://schemas.openxmlformats.org/drawingml/2006/main">
              <a:ext uri="{FF2B5EF4-FFF2-40B4-BE49-F238E27FC236}">
                <a16:creationId xmlns:a16="http://schemas.microsoft.com/office/drawing/2014/main" id="{F8251898-3C36-4A4C-8623-283D327E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573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82E31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C82E31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" name="line-02">
            <a:extLst xmlns:a="http://schemas.openxmlformats.org/drawingml/2006/main">
              <a:ext uri="{FF2B5EF4-FFF2-40B4-BE49-F238E27FC236}">
                <a16:creationId xmlns:a16="http://schemas.microsoft.com/office/drawing/2014/main" id="{8EE8DA50-3941-41B0-ADFC-1ECE1BFC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33600"/>
            <a:ext cx="219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t-02">
            <a:extLst xmlns:a="http://schemas.openxmlformats.org/drawingml/2006/main">
              <a:ext uri="{FF2B5EF4-FFF2-40B4-BE49-F238E27FC236}">
                <a16:creationId xmlns:a16="http://schemas.microsoft.com/office/drawing/2014/main" id="{E36EE35A-2D77-42E8-9B75-3FB3633F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241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717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아미노산 18종</a:t>
            </a:r>
          </a:p>
        </p:txBody>
      </p:sp>
      <p:sp>
        <p:nvSpPr>
          <p:cNvPr id="13" name="fb-02">
            <a:extLst xmlns:a="http://schemas.openxmlformats.org/drawingml/2006/main">
              <a:ext uri="{FF2B5EF4-FFF2-40B4-BE49-F238E27FC236}">
                <a16:creationId xmlns:a16="http://schemas.microsoft.com/office/drawing/2014/main" id="{FFF7BE42-2798-4CEA-96EF-CEA5DCFC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914650"/>
            <a:ext cx="219075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식물성 아미노산 18종이 안토시아닌 등 식물 색소의 발현을 증대시켜 착색과 당도 관리에 도움을 줍니다.</a:t>
            </a:r>
          </a:p>
        </p:txBody>
      </p:sp>
      <p:sp>
        <p:nvSpPr>
          <p:cNvPr id="14" name="num-03">
            <a:extLst xmlns:a="http://schemas.openxmlformats.org/drawingml/2006/main">
              <a:ext uri="{FF2B5EF4-FFF2-40B4-BE49-F238E27FC236}">
                <a16:creationId xmlns:a16="http://schemas.microsoft.com/office/drawing/2014/main" id="{5BCC48A5-E490-4610-A3EA-60CAC652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6573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82E31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C82E31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5" name="line-03">
            <a:extLst xmlns:a="http://schemas.openxmlformats.org/drawingml/2006/main">
              <a:ext uri="{FF2B5EF4-FFF2-40B4-BE49-F238E27FC236}">
                <a16:creationId xmlns:a16="http://schemas.microsoft.com/office/drawing/2014/main" id="{AA008BAA-13D9-4B3C-A790-74FE2AD1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133600"/>
            <a:ext cx="219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t-03">
            <a:extLst xmlns:a="http://schemas.openxmlformats.org/drawingml/2006/main">
              <a:ext uri="{FF2B5EF4-FFF2-40B4-BE49-F238E27FC236}">
                <a16:creationId xmlns:a16="http://schemas.microsoft.com/office/drawing/2014/main" id="{8128893C-EA7D-443F-B84E-279A81CC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241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717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회복과 균형 생장</a:t>
            </a:r>
          </a:p>
        </p:txBody>
      </p:sp>
      <p:sp>
        <p:nvSpPr>
          <p:cNvPr id="17" name="fb-03">
            <a:extLst xmlns:a="http://schemas.openxmlformats.org/drawingml/2006/main">
              <a:ext uri="{FF2B5EF4-FFF2-40B4-BE49-F238E27FC236}">
                <a16:creationId xmlns:a16="http://schemas.microsoft.com/office/drawing/2014/main" id="{E1EF8165-071E-4FD5-9674-E9D7D810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914650"/>
            <a:ext cx="219075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과일의 저장성 관리와 작물의 수세 회복, 균형 생장을 돕도록 설계되었습니다.</a:t>
            </a:r>
          </a:p>
        </p:txBody>
      </p:sp>
      <p:sp>
        <p:nvSpPr>
          <p:cNvPr id="18" name="label-note">
            <a:extLst xmlns:a="http://schemas.openxmlformats.org/drawingml/2006/main">
              <a:ext uri="{FF2B5EF4-FFF2-40B4-BE49-F238E27FC236}">
                <a16:creationId xmlns:a16="http://schemas.microsoft.com/office/drawing/2014/main" id="{45632E15-3667-4CA8-B8D3-20421612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5435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주: 제품 라벨 기재 내용을 기준으로 정리했습니다.</a:t>
            </a:r>
          </a:p>
        </p:txBody>
      </p:sp>
    </p:spTree>
    <p:extLst>
      <p:ext uri="{BB962C8B-B14F-4D97-AF65-F5344CB8AC3E}">
        <p14:creationId xmlns:p14="http://schemas.microsoft.com/office/powerpoint/2010/main" val="18823966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390805DF-75ED-4969-80E0-838E01A6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2E31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C82E31"/>
                </a:solidFill>
                <a:latin typeface="Noto Sans KR"/>
                <a:ea typeface="Noto Sans KR"/>
                <a:cs typeface="Noto Sans KR"/>
              </a:rPr>
              <a:t>사용 방법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2A65147-4989-40D9-8813-505B722F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1717"/>
                </a:solidFill>
                <a:latin typeface="Noto Sans KR"/>
                <a:ea typeface="Noto Sans KR"/>
                <a:cs typeface="Noto Sans KR"/>
              </a:defRPr>
            </a:pPr>
            <a:r>
              <a:rPr sz="2925" b="1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두 가지 기준만 기억하세요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F4F8353-1934-420A-A43D-D17E7D5F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66825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2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1DF2D6D1-DA49-49BD-9B58-9676AF57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5" name="left-block">
            <a:extLst xmlns:a="http://schemas.openxmlformats.org/drawingml/2006/main">
              <a:ext uri="{FF2B5EF4-FFF2-40B4-BE49-F238E27FC236}">
                <a16:creationId xmlns:a16="http://schemas.microsoft.com/office/drawing/2014/main" id="{1FDC316C-E9AA-4FCE-B9FB-20D56020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5286375" cy="4048125"/>
          </a:xfrm>
          <a:prstGeom xmlns:a="http://schemas.openxmlformats.org/drawingml/2006/main" prst="roundRect">
            <a:avLst>
              <a:gd name="adj" fmla="val 1882"/>
            </a:avLst>
          </a:prstGeom>
          <a:solidFill xmlns:a="http://schemas.openxmlformats.org/drawingml/2006/main">
            <a:srgbClr val="F2F2F0"/>
          </a:solidFill>
          <a:ln xmlns:a="http://schemas.openxmlformats.org/drawingml/2006/main" w="9525">
            <a:solidFill>
              <a:srgbClr val="D4D4D0"/>
            </a:solidFill>
            <a:prstDash val="solid"/>
          </a:ln>
        </p:spPr>
      </p:sp>
      <p:sp>
        <p:nvSpPr>
          <p:cNvPr id="6" name="spray-k">
            <a:extLst xmlns:a="http://schemas.openxmlformats.org/drawingml/2006/main">
              <a:ext uri="{FF2B5EF4-FFF2-40B4-BE49-F238E27FC236}">
                <a16:creationId xmlns:a16="http://schemas.microsoft.com/office/drawing/2014/main" id="{3241D1CB-4556-4069-9D3A-F00815CB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82E31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C82E31"/>
                </a:solidFill>
                <a:latin typeface="Noto Sans KR"/>
                <a:ea typeface="Noto Sans KR"/>
                <a:cs typeface="Noto Sans KR"/>
              </a:rPr>
              <a:t>엽면살포</a:t>
            </a:r>
          </a:p>
        </p:txBody>
      </p:sp>
      <p:sp>
        <p:nvSpPr>
          <p:cNvPr id="7" name="spray-big">
            <a:extLst xmlns:a="http://schemas.openxmlformats.org/drawingml/2006/main">
              <a:ext uri="{FF2B5EF4-FFF2-40B4-BE49-F238E27FC236}">
                <a16:creationId xmlns:a16="http://schemas.microsoft.com/office/drawing/2014/main" id="{C1C6CEC5-A4ED-4752-AD74-CFDE6AC5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1717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500~1,000배</a:t>
            </a:r>
          </a:p>
        </p:txBody>
      </p:sp>
      <p:sp>
        <p:nvSpPr>
          <p:cNvPr id="8" name="spray-desc">
            <a:extLst xmlns:a="http://schemas.openxmlformats.org/drawingml/2006/main">
              <a:ext uri="{FF2B5EF4-FFF2-40B4-BE49-F238E27FC236}">
                <a16:creationId xmlns:a16="http://schemas.microsoft.com/office/drawing/2014/main" id="{9A199434-31A4-4197-AF49-7900F210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물에 희석하여 작물의 잎에 골고루 살포합니다.</a:t>
            </a:r>
          </a:p>
        </p:txBody>
      </p:sp>
      <p:sp>
        <p:nvSpPr>
          <p:cNvPr id="9" name="calc">
            <a:extLst xmlns:a="http://schemas.openxmlformats.org/drawingml/2006/main">
              <a:ext uri="{FF2B5EF4-FFF2-40B4-BE49-F238E27FC236}">
                <a16:creationId xmlns:a16="http://schemas.microsoft.com/office/drawing/2014/main" id="{E8C3AC00-D56B-4677-A094-27B10EBC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43053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0"/>
            </a:solidFill>
            <a:prstDash val="solid"/>
          </a:ln>
        </p:spPr>
      </p:sp>
      <p:sp>
        <p:nvSpPr>
          <p:cNvPr id="10" name="calc-title">
            <a:extLst xmlns:a="http://schemas.openxmlformats.org/drawingml/2006/main">
              <a:ext uri="{FF2B5EF4-FFF2-40B4-BE49-F238E27FC236}">
                <a16:creationId xmlns:a16="http://schemas.microsoft.com/office/drawing/2014/main" id="{2773E53B-B025-4F43-9F9A-F8D1D9E0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00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희석량 환산 예시</a:t>
            </a:r>
          </a:p>
        </p:txBody>
      </p:sp>
      <p:sp>
        <p:nvSpPr>
          <p:cNvPr id="11" name="calc-body">
            <a:extLst xmlns:a="http://schemas.openxmlformats.org/drawingml/2006/main">
              <a:ext uri="{FF2B5EF4-FFF2-40B4-BE49-F238E27FC236}">
                <a16:creationId xmlns:a16="http://schemas.microsoft.com/office/drawing/2014/main" id="{6512BD85-6D0B-49A4-9AF4-F2C5E224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33900"/>
            <a:ext cx="385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2E3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C82E31"/>
                </a:solidFill>
                <a:latin typeface="Noto Sans KR"/>
                <a:ea typeface="Noto Sans KR"/>
                <a:cs typeface="Noto Sans KR"/>
              </a:rPr>
              <a:t>물 20L 기준  ·  500배: 40mL  /  1,000배: 20mL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72fb99eb524c54"/>
          <a:srcRect xmlns:a="http://schemas.openxmlformats.org/drawingml/2006/main" l="9216" t="0" r="92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581150"/>
            <a:ext cx="2476500" cy="4048125"/>
          </a:xfrm>
          <a:prstGeom xmlns:a="http://schemas.openxmlformats.org/drawingml/2006/main" prst="roundRect">
            <a:avLst>
              <a:gd name="adj" fmla="val 4615"/>
            </a:avLst>
          </a:prstGeom>
        </p:spPr>
      </p:pic>
      <p:sp>
        <p:nvSpPr>
          <p:cNvPr id="13" name="fert-k">
            <a:extLst xmlns:a="http://schemas.openxmlformats.org/drawingml/2006/main">
              <a:ext uri="{FF2B5EF4-FFF2-40B4-BE49-F238E27FC236}">
                <a16:creationId xmlns:a16="http://schemas.microsoft.com/office/drawing/2014/main" id="{A57FCE0E-468C-4DEA-9E99-3AD0DFE0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811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26E3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426E36"/>
                </a:solidFill>
                <a:latin typeface="Noto Sans KR"/>
                <a:ea typeface="Noto Sans KR"/>
                <a:cs typeface="Noto Sans KR"/>
              </a:rPr>
              <a:t>관주</a:t>
            </a:r>
          </a:p>
        </p:txBody>
      </p:sp>
      <p:sp>
        <p:nvSpPr>
          <p:cNvPr id="14" name="fert-big">
            <a:extLst xmlns:a="http://schemas.openxmlformats.org/drawingml/2006/main">
              <a:ext uri="{FF2B5EF4-FFF2-40B4-BE49-F238E27FC236}">
                <a16:creationId xmlns:a16="http://schemas.microsoft.com/office/drawing/2014/main" id="{3AE1FEC7-E005-4027-8BA6-81DED4AB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47900"/>
            <a:ext cx="228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717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1,000m²당</a:t>
            </a:r>
          </a:p>
          <a:p xmlns:a="http://schemas.openxmlformats.org/drawingml/2006/main">
            <a:pPr algn="l">
              <a:defRPr sz="3000" b="1">
                <a:solidFill>
                  <a:srgbClr val="171717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1~1.5L</a:t>
            </a:r>
          </a:p>
        </p:txBody>
      </p:sp>
      <p:sp>
        <p:nvSpPr>
          <p:cNvPr id="15" name="fert-desc">
            <a:extLst xmlns:a="http://schemas.openxmlformats.org/drawingml/2006/main">
              <a:ext uri="{FF2B5EF4-FFF2-40B4-BE49-F238E27FC236}">
                <a16:creationId xmlns:a16="http://schemas.microsoft.com/office/drawing/2014/main" id="{3981B9C8-2ECD-4F3D-999E-6F94BE1F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43300"/>
            <a:ext cx="2247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98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물에 희석하여 관주합니다.</a:t>
            </a:r>
          </a:p>
          <a:p xmlns:a="http://schemas.openxmlformats.org/drawingml/2006/main">
            <a:pPr algn="l">
              <a:defRPr sz="16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330m²는 약 100평입니다.</a:t>
            </a:r>
          </a:p>
        </p:txBody>
      </p:sp>
      <p:sp>
        <p:nvSpPr>
          <p:cNvPr id="16" name="use-rule">
            <a:extLst xmlns:a="http://schemas.openxmlformats.org/drawingml/2006/main">
              <a:ext uri="{FF2B5EF4-FFF2-40B4-BE49-F238E27FC236}">
                <a16:creationId xmlns:a16="http://schemas.microsoft.com/office/drawing/2014/main" id="{F5ECFB79-483C-4458-9C58-49755C1F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29150"/>
            <a:ext cx="219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use-note">
            <a:extLst xmlns:a="http://schemas.openxmlformats.org/drawingml/2006/main">
              <a:ext uri="{FF2B5EF4-FFF2-40B4-BE49-F238E27FC236}">
                <a16:creationId xmlns:a16="http://schemas.microsoft.com/office/drawing/2014/main" id="{40960C5D-FD87-42A7-9864-BD700604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80060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작물 상태와 재배 환경을 확인한 뒤 사용하십시오.</a:t>
            </a:r>
          </a:p>
        </p:txBody>
      </p:sp>
    </p:spTree>
    <p:extLst>
      <p:ext uri="{BB962C8B-B14F-4D97-AF65-F5344CB8AC3E}">
        <p14:creationId xmlns:p14="http://schemas.microsoft.com/office/powerpoint/2010/main" val="14763734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kicker">
            <a:extLst xmlns:a="http://schemas.openxmlformats.org/drawingml/2006/main">
              <a:ext uri="{FF2B5EF4-FFF2-40B4-BE49-F238E27FC236}">
                <a16:creationId xmlns:a16="http://schemas.microsoft.com/office/drawing/2014/main" id="{46C9605B-6DFB-4828-AE13-81FB628C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2E31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C82E31"/>
                </a:solidFill>
                <a:latin typeface="Noto Sans KR"/>
                <a:ea typeface="Noto Sans KR"/>
                <a:cs typeface="Noto Sans KR"/>
              </a:rPr>
              <a:t>제품 정보와 주의사항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5E2F0BE-A726-4A21-B970-64FC2687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1717"/>
                </a:solidFill>
                <a:latin typeface="Noto Sans KR"/>
                <a:ea typeface="Noto Sans KR"/>
                <a:cs typeface="Noto Sans KR"/>
              </a:defRPr>
            </a:pPr>
            <a:r>
              <a:rPr sz="2925" b="1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라벨 기준을 지키면 사용이 더 명확해집니다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DC48933-BA57-4DDD-8576-03013525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66825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2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96DEC8E-6F56-4546-8750-8157AEF0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5" name="info-h">
            <a:extLst xmlns:a="http://schemas.openxmlformats.org/drawingml/2006/main">
              <a:ext uri="{FF2B5EF4-FFF2-40B4-BE49-F238E27FC236}">
                <a16:creationId xmlns:a16="http://schemas.microsoft.com/office/drawing/2014/main" id="{9E323B9F-2CB3-4B21-9515-D12EAA5F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82E31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C82E31"/>
                </a:solidFill>
                <a:latin typeface="Noto Sans KR"/>
                <a:ea typeface="Noto Sans KR"/>
                <a:cs typeface="Noto Sans KR"/>
              </a:rPr>
              <a:t>제품 정보</a:t>
            </a:r>
          </a:p>
        </p:txBody>
      </p:sp>
      <p:sp>
        <p:nvSpPr>
          <p:cNvPr id="6" name="ir222">
            <a:extLst xmlns:a="http://schemas.openxmlformats.org/drawingml/2006/main">
              <a:ext uri="{FF2B5EF4-FFF2-40B4-BE49-F238E27FC236}">
                <a16:creationId xmlns:a16="http://schemas.microsoft.com/office/drawing/2014/main" id="{E5D9F32F-BE66-4B13-A1D1-CBCD170D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14550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ia222">
            <a:extLst xmlns:a="http://schemas.openxmlformats.org/drawingml/2006/main">
              <a:ext uri="{FF2B5EF4-FFF2-40B4-BE49-F238E27FC236}">
                <a16:creationId xmlns:a16="http://schemas.microsoft.com/office/drawing/2014/main" id="{F884C495-C898-4D52-A758-E8B9D492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81225"/>
            <a:ext cx="147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비료의 종류</a:t>
            </a:r>
          </a:p>
        </p:txBody>
      </p:sp>
      <p:sp>
        <p:nvSpPr>
          <p:cNvPr id="8" name="ib222">
            <a:extLst xmlns:a="http://schemas.openxmlformats.org/drawingml/2006/main">
              <a:ext uri="{FF2B5EF4-FFF2-40B4-BE49-F238E27FC236}">
                <a16:creationId xmlns:a16="http://schemas.microsoft.com/office/drawing/2014/main" id="{244DF0FC-EC3D-4E9A-AA41-D12D83AB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181225"/>
            <a:ext cx="3733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미량요소 복합비료(액상)</a:t>
            </a:r>
          </a:p>
        </p:txBody>
      </p:sp>
      <p:sp>
        <p:nvSpPr>
          <p:cNvPr id="9" name="ir287">
            <a:extLst xmlns:a="http://schemas.openxmlformats.org/drawingml/2006/main">
              <a:ext uri="{FF2B5EF4-FFF2-40B4-BE49-F238E27FC236}">
                <a16:creationId xmlns:a16="http://schemas.microsoft.com/office/drawing/2014/main" id="{0F8A94D3-0622-4DAA-9816-DC029AEF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336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ia287">
            <a:extLst xmlns:a="http://schemas.openxmlformats.org/drawingml/2006/main">
              <a:ext uri="{FF2B5EF4-FFF2-40B4-BE49-F238E27FC236}">
                <a16:creationId xmlns:a16="http://schemas.microsoft.com/office/drawing/2014/main" id="{840A0BE4-A028-4C49-981E-6F187123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147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내용량</a:t>
            </a:r>
          </a:p>
        </p:txBody>
      </p:sp>
      <p:sp>
        <p:nvSpPr>
          <p:cNvPr id="11" name="ib287">
            <a:extLst xmlns:a="http://schemas.openxmlformats.org/drawingml/2006/main">
              <a:ext uri="{FF2B5EF4-FFF2-40B4-BE49-F238E27FC236}">
                <a16:creationId xmlns:a16="http://schemas.microsoft.com/office/drawing/2014/main" id="{49691F21-C800-42C4-A5ED-E982F115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800350"/>
            <a:ext cx="3733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1L</a:t>
            </a:r>
          </a:p>
        </p:txBody>
      </p:sp>
      <p:sp>
        <p:nvSpPr>
          <p:cNvPr id="12" name="ir352">
            <a:extLst xmlns:a="http://schemas.openxmlformats.org/drawingml/2006/main">
              <a:ext uri="{FF2B5EF4-FFF2-40B4-BE49-F238E27FC236}">
                <a16:creationId xmlns:a16="http://schemas.microsoft.com/office/drawing/2014/main" id="{F23AB63E-5DD7-4AE8-A323-DB3A3BC4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52800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ia352">
            <a:extLst xmlns:a="http://schemas.openxmlformats.org/drawingml/2006/main">
              <a:ext uri="{FF2B5EF4-FFF2-40B4-BE49-F238E27FC236}">
                <a16:creationId xmlns:a16="http://schemas.microsoft.com/office/drawing/2014/main" id="{E8E44799-0A5B-439B-9F0B-8E5213DC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19475"/>
            <a:ext cx="147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보증성분</a:t>
            </a:r>
          </a:p>
        </p:txBody>
      </p:sp>
      <p:sp>
        <p:nvSpPr>
          <p:cNvPr id="14" name="ib352">
            <a:extLst xmlns:a="http://schemas.openxmlformats.org/drawingml/2006/main">
              <a:ext uri="{FF2B5EF4-FFF2-40B4-BE49-F238E27FC236}">
                <a16:creationId xmlns:a16="http://schemas.microsoft.com/office/drawing/2014/main" id="{5B0CEC89-9BD5-4B53-8DE1-F4B06CE9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419475"/>
            <a:ext cx="3733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붕소 0.05% · 몰리브덴 0.0005%</a:t>
            </a:r>
          </a:p>
        </p:txBody>
      </p:sp>
      <p:sp>
        <p:nvSpPr>
          <p:cNvPr id="15" name="ir417">
            <a:extLst xmlns:a="http://schemas.openxmlformats.org/drawingml/2006/main">
              <a:ext uri="{FF2B5EF4-FFF2-40B4-BE49-F238E27FC236}">
                <a16:creationId xmlns:a16="http://schemas.microsoft.com/office/drawing/2014/main" id="{A7BAE0B5-A36D-472D-90E9-915D6CBB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7192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ia417">
            <a:extLst xmlns:a="http://schemas.openxmlformats.org/drawingml/2006/main">
              <a:ext uri="{FF2B5EF4-FFF2-40B4-BE49-F238E27FC236}">
                <a16:creationId xmlns:a16="http://schemas.microsoft.com/office/drawing/2014/main" id="{E9A4F9DF-0E75-4CB7-B599-8DB18A48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38600"/>
            <a:ext cx="147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생산업등록번호</a:t>
            </a:r>
          </a:p>
        </p:txBody>
      </p:sp>
      <p:sp>
        <p:nvSpPr>
          <p:cNvPr id="17" name="ib417">
            <a:extLst xmlns:a="http://schemas.openxmlformats.org/drawingml/2006/main">
              <a:ext uri="{FF2B5EF4-FFF2-40B4-BE49-F238E27FC236}">
                <a16:creationId xmlns:a16="http://schemas.microsoft.com/office/drawing/2014/main" id="{26EF9B63-9EA1-40D4-A75C-38A1AEE5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038600"/>
            <a:ext cx="3733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경북안동 44-가-10804호</a:t>
            </a:r>
          </a:p>
        </p:txBody>
      </p:sp>
      <p:sp>
        <p:nvSpPr>
          <p:cNvPr id="18" name="ir482">
            <a:extLst xmlns:a="http://schemas.openxmlformats.org/drawingml/2006/main">
              <a:ext uri="{FF2B5EF4-FFF2-40B4-BE49-F238E27FC236}">
                <a16:creationId xmlns:a16="http://schemas.microsoft.com/office/drawing/2014/main" id="{64720D12-562C-42E6-9AAB-D5247F26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91050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ia482">
            <a:extLst xmlns:a="http://schemas.openxmlformats.org/drawingml/2006/main">
              <a:ext uri="{FF2B5EF4-FFF2-40B4-BE49-F238E27FC236}">
                <a16:creationId xmlns:a16="http://schemas.microsoft.com/office/drawing/2014/main" id="{97C343B6-D6B6-4C0F-9311-AF4DDB62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57725"/>
            <a:ext cx="147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제조원</a:t>
            </a:r>
          </a:p>
        </p:txBody>
      </p:sp>
      <p:sp>
        <p:nvSpPr>
          <p:cNvPr id="20" name="ib482">
            <a:extLst xmlns:a="http://schemas.openxmlformats.org/drawingml/2006/main">
              <a:ext uri="{FF2B5EF4-FFF2-40B4-BE49-F238E27FC236}">
                <a16:creationId xmlns:a16="http://schemas.microsoft.com/office/drawing/2014/main" id="{3C905619-8DBA-4BDE-94DA-FF161956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657725"/>
            <a:ext cx="3733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드림인네이처</a:t>
            </a:r>
          </a:p>
        </p:txBody>
      </p:sp>
      <p:sp>
        <p:nvSpPr>
          <p:cNvPr id="21" name="divider">
            <a:extLst xmlns:a="http://schemas.openxmlformats.org/drawingml/2006/main">
              <a:ext uri="{FF2B5EF4-FFF2-40B4-BE49-F238E27FC236}">
                <a16:creationId xmlns:a16="http://schemas.microsoft.com/office/drawing/2014/main" id="{AE7521E5-14A2-461F-8348-D49A5F9B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62100"/>
            <a:ext cx="19050" cy="414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afe-h">
            <a:extLst xmlns:a="http://schemas.openxmlformats.org/drawingml/2006/main">
              <a:ext uri="{FF2B5EF4-FFF2-40B4-BE49-F238E27FC236}">
                <a16:creationId xmlns:a16="http://schemas.microsoft.com/office/drawing/2014/main" id="{419E98D4-B6FF-4C3F-AE53-A24BFB1D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8115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82E31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C82E31"/>
                </a:solidFill>
                <a:latin typeface="Noto Sans KR"/>
                <a:ea typeface="Noto Sans KR"/>
                <a:cs typeface="Noto Sans KR"/>
              </a:rPr>
              <a:t>사용상 주의사항</a:t>
            </a:r>
          </a:p>
        </p:txBody>
      </p:sp>
      <p:sp>
        <p:nvSpPr>
          <p:cNvPr id="23" name="sn1">
            <a:extLst xmlns:a="http://schemas.openxmlformats.org/drawingml/2006/main">
              <a:ext uri="{FF2B5EF4-FFF2-40B4-BE49-F238E27FC236}">
                <a16:creationId xmlns:a16="http://schemas.microsoft.com/office/drawing/2014/main" id="{21071DA4-15C6-4549-959A-2D74C649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526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24" name="sc1">
            <a:extLst xmlns:a="http://schemas.openxmlformats.org/drawingml/2006/main">
              <a:ext uri="{FF2B5EF4-FFF2-40B4-BE49-F238E27FC236}">
                <a16:creationId xmlns:a16="http://schemas.microsoft.com/office/drawing/2014/main" id="{38E640FF-8595-471C-9F4A-645CAD5B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526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2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t1">
            <a:extLst xmlns:a="http://schemas.openxmlformats.org/drawingml/2006/main">
              <a:ext uri="{FF2B5EF4-FFF2-40B4-BE49-F238E27FC236}">
                <a16:creationId xmlns:a16="http://schemas.microsoft.com/office/drawing/2014/main" id="{4C511BB1-EE96-4FD2-8479-58BB058D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05025"/>
            <a:ext cx="442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1717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단기간에 중복 살포하거나 재살포하지 마십시오.</a:t>
            </a:r>
          </a:p>
        </p:txBody>
      </p:sp>
      <p:sp>
        <p:nvSpPr>
          <p:cNvPr id="26" name="sn2">
            <a:extLst xmlns:a="http://schemas.openxmlformats.org/drawingml/2006/main">
              <a:ext uri="{FF2B5EF4-FFF2-40B4-BE49-F238E27FC236}">
                <a16:creationId xmlns:a16="http://schemas.microsoft.com/office/drawing/2014/main" id="{7E32614B-5A45-44CB-8F4C-48929D3A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908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27" name="sc2">
            <a:extLst xmlns:a="http://schemas.openxmlformats.org/drawingml/2006/main">
              <a:ext uri="{FF2B5EF4-FFF2-40B4-BE49-F238E27FC236}">
                <a16:creationId xmlns:a16="http://schemas.microsoft.com/office/drawing/2014/main" id="{AD34460E-4F80-448E-B5B2-291F09EB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90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2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t2">
            <a:extLst xmlns:a="http://schemas.openxmlformats.org/drawingml/2006/main">
              <a:ext uri="{FF2B5EF4-FFF2-40B4-BE49-F238E27FC236}">
                <a16:creationId xmlns:a16="http://schemas.microsoft.com/office/drawing/2014/main" id="{0E552CDD-00D9-42BD-9C1C-7889B12A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943225"/>
            <a:ext cx="442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1717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단용 살포를 원칙으로 하며, 부득이한 혼용 시에는 소면적 시험살포 후 이상 여부를 확인하십시오.</a:t>
            </a:r>
          </a:p>
        </p:txBody>
      </p:sp>
      <p:sp>
        <p:nvSpPr>
          <p:cNvPr id="29" name="sn3">
            <a:extLst xmlns:a="http://schemas.openxmlformats.org/drawingml/2006/main">
              <a:ext uri="{FF2B5EF4-FFF2-40B4-BE49-F238E27FC236}">
                <a16:creationId xmlns:a16="http://schemas.microsoft.com/office/drawing/2014/main" id="{DFE23348-AC2A-44D8-AF72-00548235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30" name="sc3">
            <a:extLst xmlns:a="http://schemas.openxmlformats.org/drawingml/2006/main">
              <a:ext uri="{FF2B5EF4-FFF2-40B4-BE49-F238E27FC236}">
                <a16:creationId xmlns:a16="http://schemas.microsoft.com/office/drawing/2014/main" id="{A5439957-41D7-449A-B37E-378873B0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290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2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t3">
            <a:extLst xmlns:a="http://schemas.openxmlformats.org/drawingml/2006/main">
              <a:ext uri="{FF2B5EF4-FFF2-40B4-BE49-F238E27FC236}">
                <a16:creationId xmlns:a16="http://schemas.microsoft.com/office/drawing/2014/main" id="{FC3D58E3-5AED-4992-80DA-8CC10A9A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81425"/>
            <a:ext cx="442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1717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타 착색제와 혼용하거나 이미 살포한 곳에 이어서 사용하지 마십시오.</a:t>
            </a:r>
          </a:p>
        </p:txBody>
      </p:sp>
      <p:sp>
        <p:nvSpPr>
          <p:cNvPr id="32" name="sn4">
            <a:extLst xmlns:a="http://schemas.openxmlformats.org/drawingml/2006/main">
              <a:ext uri="{FF2B5EF4-FFF2-40B4-BE49-F238E27FC236}">
                <a16:creationId xmlns:a16="http://schemas.microsoft.com/office/drawing/2014/main" id="{7E655724-768F-4516-86E9-04E4DC47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672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33" name="sc4">
            <a:extLst xmlns:a="http://schemas.openxmlformats.org/drawingml/2006/main">
              <a:ext uri="{FF2B5EF4-FFF2-40B4-BE49-F238E27FC236}">
                <a16:creationId xmlns:a16="http://schemas.microsoft.com/office/drawing/2014/main" id="{8296F90A-73E5-42E1-AFA1-F7E3BFCB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672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2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t4">
            <a:extLst xmlns:a="http://schemas.openxmlformats.org/drawingml/2006/main">
              <a:ext uri="{FF2B5EF4-FFF2-40B4-BE49-F238E27FC236}">
                <a16:creationId xmlns:a16="http://schemas.microsoft.com/office/drawing/2014/main" id="{7E89522C-7ED3-4AEF-8257-3753AC9A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619625"/>
            <a:ext cx="442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1717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보관 중 침전이 생길 수 있으므로 충분히 흔들어 사용하십시오.</a:t>
            </a:r>
          </a:p>
        </p:txBody>
      </p:sp>
      <p:sp>
        <p:nvSpPr>
          <p:cNvPr id="35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9209259-2744-4563-B262-76DA0512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62650"/>
            <a:ext cx="10915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closing">
            <a:extLst xmlns:a="http://schemas.openxmlformats.org/drawingml/2006/main">
              <a:ext uri="{FF2B5EF4-FFF2-40B4-BE49-F238E27FC236}">
                <a16:creationId xmlns:a16="http://schemas.microsoft.com/office/drawing/2014/main" id="{5A5B9F46-4C8F-44AC-BA26-BA130872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사용 전 제품 라벨을 다시 확인하고, 작물과 환경에 맞추어 적용하십시오.</a:t>
            </a:r>
          </a:p>
        </p:txBody>
      </p:sp>
    </p:spTree>
    <p:extLst>
      <p:ext uri="{BB962C8B-B14F-4D97-AF65-F5344CB8AC3E}">
        <p14:creationId xmlns:p14="http://schemas.microsoft.com/office/powerpoint/2010/main" val="20096357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2026-08-07T07:23:49.1000000Z</dcterms:created>
  <dcterms:modified xsi:type="dcterms:W3CDTF">2026-08-07T07:23:49.1010000Z</dcterms:modified>
</coreProperties>
</file>